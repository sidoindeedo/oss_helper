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20.png" ContentType="image/png"/>
  <Override PartName="/ppt/media/image9.png" ContentType="image/png"/>
  <Override PartName="/ppt/media/image4.png" ContentType="image/png"/>
  <Override PartName="/ppt/media/image13.png" ContentType="image/png"/>
  <Override PartName="/ppt/media/image30.png" ContentType="image/png"/>
  <Override PartName="/ppt/media/image31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6C7DBFC-8680-4A3A-931D-CC7BD6F1603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ECC868-93EB-4DC8-A2BD-35985CCE79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3BB534-B8C9-4539-A87F-B9F321B4FD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4CD5FE-7CE2-4739-AE5D-2221576B16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944D6C-EF06-4BEF-8F71-0A57F28FD3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FD7AB5-F3ED-4523-946D-E259B4E0BF5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63678F-6EE9-458E-8E80-51202595E4D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6619ED-8241-4014-8580-8E6F4198AE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7815FC-F116-4028-A1F8-66BC3E1CF51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0D9567-BED2-4D4F-843C-29C6D60981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511441-2D87-4465-980D-15DFC53EAAB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683868-3B1B-48A1-978C-4355E193DE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5.png"/><Relationship Id="rId11" Type="http://schemas.openxmlformats.org/officeDocument/2006/relationships/image" Target="../media/image12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7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Relationship Id="rId9" Type="http://schemas.openxmlformats.org/officeDocument/2006/relationships/image" Target="../media/image10.png"/><Relationship Id="rId10" Type="http://schemas.openxmlformats.org/officeDocument/2006/relationships/image" Target="../media/image18.png"/><Relationship Id="rId11" Type="http://schemas.openxmlformats.org/officeDocument/2006/relationships/image" Target="../media/image11.png"/><Relationship Id="rId12" Type="http://schemas.openxmlformats.org/officeDocument/2006/relationships/image" Target="../media/image18.png"/><Relationship Id="rId13" Type="http://schemas.openxmlformats.org/officeDocument/2006/relationships/image" Target="../media/image12.png"/><Relationship Id="rId14" Type="http://schemas.openxmlformats.org/officeDocument/2006/relationships/image" Target="../media/image16.png"/><Relationship Id="rId15" Type="http://schemas.openxmlformats.org/officeDocument/2006/relationships/image" Target="../media/image7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10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9.png"/><Relationship Id="rId10" Type="http://schemas.openxmlformats.org/officeDocument/2006/relationships/image" Target="../media/image5.png"/><Relationship Id="rId11" Type="http://schemas.openxmlformats.org/officeDocument/2006/relationships/image" Target="../media/image12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7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26.png"/><Relationship Id="rId8" Type="http://schemas.openxmlformats.org/officeDocument/2006/relationships/image" Target="../media/image4.png"/><Relationship Id="rId9" Type="http://schemas.openxmlformats.org/officeDocument/2006/relationships/image" Target="../media/image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41112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preencoded.png"/>
          <p:cNvPicPr/>
          <p:nvPr/>
        </p:nvPicPr>
        <p:blipFill>
          <a:blip r:embed="rId2"/>
          <a:stretch/>
        </p:blipFill>
        <p:spPr>
          <a:xfrm>
            <a:off x="0" y="4869360"/>
            <a:ext cx="9143640" cy="273960"/>
          </a:xfrm>
          <a:prstGeom prst="rect">
            <a:avLst/>
          </a:prstGeom>
          <a:ln w="0">
            <a:noFill/>
          </a:ln>
        </p:spPr>
      </p:pic>
      <p:sp>
        <p:nvSpPr>
          <p:cNvPr id="10" name="Shape 0"/>
          <p:cNvSpPr/>
          <p:nvPr/>
        </p:nvSpPr>
        <p:spPr>
          <a:xfrm>
            <a:off x="7269480" y="45720"/>
            <a:ext cx="178272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287840" y="730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42a0a"/>
                </a:solidFill>
                <a:latin typeface="Arial Black"/>
                <a:ea typeface="Arial Black"/>
              </a:rPr>
              <a:t>CHITKARA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7287840" y="292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333333"/>
                </a:solidFill>
                <a:latin typeface="Calibri"/>
                <a:ea typeface="Calibri"/>
              </a:rPr>
              <a:t>UNIVERSITY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&gt;&gt;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274320" y="594360"/>
            <a:ext cx="8595000" cy="4068720"/>
          </a:xfrm>
          <a:prstGeom prst="roundRect">
            <a:avLst>
              <a:gd name="adj" fmla="val 4045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" name="Image 2" descr="preencoded.png"/>
          <p:cNvPicPr/>
          <p:nvPr/>
        </p:nvPicPr>
        <p:blipFill>
          <a:blip r:embed="rId3"/>
          <a:stretch/>
        </p:blipFill>
        <p:spPr>
          <a:xfrm>
            <a:off x="502920" y="7772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7" name="Text 6"/>
          <p:cNvSpPr/>
          <p:nvPr/>
        </p:nvSpPr>
        <p:spPr>
          <a:xfrm>
            <a:off x="777240" y="73152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Arial Black"/>
                <a:ea typeface="Arial Black"/>
              </a:rPr>
              <a:t>OSIR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" name="Image 3" descr="preencoded.png"/>
          <p:cNvPicPr/>
          <p:nvPr/>
        </p:nvPicPr>
        <p:blipFill>
          <a:blip r:embed="rId4"/>
          <a:stretch/>
        </p:blipFill>
        <p:spPr>
          <a:xfrm>
            <a:off x="6583680" y="758880"/>
            <a:ext cx="182520" cy="182520"/>
          </a:xfrm>
          <a:prstGeom prst="rect">
            <a:avLst/>
          </a:prstGeom>
          <a:ln w="0">
            <a:noFill/>
          </a:ln>
        </p:spPr>
      </p:pic>
      <p:sp>
        <p:nvSpPr>
          <p:cNvPr id="19" name="Text 7"/>
          <p:cNvSpPr/>
          <p:nvPr/>
        </p:nvSpPr>
        <p:spPr>
          <a:xfrm>
            <a:off x="6812280" y="713160"/>
            <a:ext cx="2102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Open Source Issue Recommender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502920" y="1188720"/>
            <a:ext cx="50745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00" strike="noStrike">
                <a:solidFill>
                  <a:srgbClr val="ffb422"/>
                </a:solidFill>
                <a:latin typeface="Arial Black"/>
                <a:ea typeface="Arial Black"/>
              </a:rPr>
              <a:t>OPEN SOURCE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9"/>
          <p:cNvSpPr/>
          <p:nvPr/>
        </p:nvSpPr>
        <p:spPr>
          <a:xfrm>
            <a:off x="502920" y="1828800"/>
            <a:ext cx="5074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52" strike="noStrike">
                <a:solidFill>
                  <a:srgbClr val="ffffff"/>
                </a:solidFill>
                <a:latin typeface="Arial Black"/>
                <a:ea typeface="Arial Black"/>
              </a:rPr>
              <a:t>ISSUE RECOMMENDER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502920" y="254196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 Black"/>
                <a:ea typeface="Arial Black"/>
              </a:rPr>
              <a:t>AN AI-ASSISTED RECOMMENDER FOR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502920" y="2779920"/>
            <a:ext cx="5074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 Black"/>
                <a:ea typeface="Arial Black"/>
              </a:rPr>
              <a:t>LOW-CROWD, BEGINNER-FRIENDLY GITHUB ISSUES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" name="Image 4" descr="preencoded.png"/>
          <p:cNvPicPr/>
          <p:nvPr/>
        </p:nvPicPr>
        <p:blipFill>
          <a:blip r:embed="rId5"/>
          <a:stretch/>
        </p:blipFill>
        <p:spPr>
          <a:xfrm>
            <a:off x="502920" y="3200400"/>
            <a:ext cx="2834280" cy="328680"/>
          </a:xfrm>
          <a:prstGeom prst="rect">
            <a:avLst/>
          </a:prstGeom>
          <a:ln w="0">
            <a:noFill/>
          </a:ln>
        </p:spPr>
      </p:pic>
      <p:sp>
        <p:nvSpPr>
          <p:cNvPr id="25" name="Text 12"/>
          <p:cNvSpPr/>
          <p:nvPr/>
        </p:nvSpPr>
        <p:spPr>
          <a:xfrm>
            <a:off x="502920" y="3200400"/>
            <a:ext cx="2834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7" strike="noStrike">
                <a:solidFill>
                  <a:srgbClr val="ffffff"/>
                </a:solidFill>
                <a:latin typeface="Arial Black"/>
                <a:ea typeface="Arial Black"/>
              </a:rPr>
              <a:t>BUILT FOR STUDENTS &amp; JUNIOR DEVELOPERS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3"/>
          <p:cNvSpPr/>
          <p:nvPr/>
        </p:nvSpPr>
        <p:spPr>
          <a:xfrm>
            <a:off x="502920" y="3703320"/>
            <a:ext cx="45360" cy="594000"/>
          </a:xfrm>
          <a:prstGeom prst="rect">
            <a:avLst/>
          </a:prstGeom>
          <a:solidFill>
            <a:srgbClr val="ffb422"/>
          </a:solidFill>
          <a:ln w="12700">
            <a:solidFill>
              <a:srgbClr val="ffb4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640080" y="370332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fb422"/>
                </a:solidFill>
                <a:latin typeface="Arial Black"/>
                <a:ea typeface="Arial Black"/>
              </a:rPr>
              <a:t>PRESENTED BY: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640080" y="390456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SHUBHAM SHARMA - 2210992369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SIDHARTH - 2210992378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SHUBHAM MITTAL - 2210992367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6"/>
          <p:cNvSpPr/>
          <p:nvPr/>
        </p:nvSpPr>
        <p:spPr>
          <a:xfrm>
            <a:off x="411480" y="4434840"/>
            <a:ext cx="4525920" cy="502560"/>
          </a:xfrm>
          <a:prstGeom prst="roundRect">
            <a:avLst>
              <a:gd name="adj" fmla="val 21818"/>
            </a:avLst>
          </a:prstGeom>
          <a:solidFill>
            <a:srgbClr val="111111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502920" y="445320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fb422"/>
                </a:solidFill>
                <a:latin typeface="Arial Black"/>
                <a:ea typeface="Arial Black"/>
              </a:rPr>
              <a:t>SUPERVISED BY:  DR. Swati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8"/>
          <p:cNvSpPr/>
          <p:nvPr/>
        </p:nvSpPr>
        <p:spPr>
          <a:xfrm>
            <a:off x="502920" y="463608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7" strike="noStrike">
                <a:solidFill>
                  <a:srgbClr val="ffffff"/>
                </a:solidFill>
                <a:latin typeface="Calibri"/>
                <a:ea typeface="Calibri"/>
              </a:rPr>
              <a:t>DEPARTMENT OF COMPUTER SCIENCE AND ENGINEERING,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9"/>
          <p:cNvSpPr/>
          <p:nvPr/>
        </p:nvSpPr>
        <p:spPr>
          <a:xfrm>
            <a:off x="502920" y="4773240"/>
            <a:ext cx="43887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97" strike="noStrike">
                <a:solidFill>
                  <a:srgbClr val="ffffff"/>
                </a:solidFill>
                <a:latin typeface="Calibri"/>
                <a:ea typeface="Calibri"/>
              </a:rPr>
              <a:t>CHITKARA UNIVERSITY, PUNJAB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0"/>
          <p:cNvSpPr/>
          <p:nvPr/>
        </p:nvSpPr>
        <p:spPr>
          <a:xfrm>
            <a:off x="4343400" y="1325880"/>
            <a:ext cx="4434480" cy="2925720"/>
          </a:xfrm>
          <a:prstGeom prst="roundRect">
            <a:avLst>
              <a:gd name="adj" fmla="val 4688"/>
            </a:avLst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1"/>
          <p:cNvSpPr/>
          <p:nvPr/>
        </p:nvSpPr>
        <p:spPr>
          <a:xfrm>
            <a:off x="4343400" y="1325880"/>
            <a:ext cx="4434480" cy="292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2"/>
          <p:cNvSpPr/>
          <p:nvPr/>
        </p:nvSpPr>
        <p:spPr>
          <a:xfrm>
            <a:off x="5824800" y="1417320"/>
            <a:ext cx="109440" cy="109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3"/>
          <p:cNvSpPr/>
          <p:nvPr/>
        </p:nvSpPr>
        <p:spPr>
          <a:xfrm>
            <a:off x="5989320" y="1417320"/>
            <a:ext cx="109440" cy="109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6153840" y="1417320"/>
            <a:ext cx="109440" cy="109440"/>
          </a:xfrm>
          <a:prstGeom prst="ellipse">
            <a:avLst/>
          </a:prstGeom>
          <a:solidFill>
            <a:srgbClr val="28ca42"/>
          </a:solidFill>
          <a:ln w="12700">
            <a:solidFill>
              <a:srgbClr val="28ca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25"/>
          <p:cNvSpPr/>
          <p:nvPr/>
        </p:nvSpPr>
        <p:spPr>
          <a:xfrm>
            <a:off x="6309360" y="1353240"/>
            <a:ext cx="242280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b949e"/>
                </a:solidFill>
                <a:latin typeface="Consolas"/>
                <a:ea typeface="Consolas"/>
              </a:rPr>
              <a:t>recommender.js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" name="Image 5" descr="preencoded.png"/>
          <p:cNvPicPr/>
          <p:nvPr/>
        </p:nvPicPr>
        <p:blipFill>
          <a:blip r:embed="rId6"/>
          <a:stretch/>
        </p:blipFill>
        <p:spPr>
          <a:xfrm>
            <a:off x="5760720" y="4343400"/>
            <a:ext cx="145800" cy="145800"/>
          </a:xfrm>
          <a:prstGeom prst="rect">
            <a:avLst/>
          </a:prstGeom>
          <a:ln w="0">
            <a:noFill/>
          </a:ln>
        </p:spPr>
      </p:pic>
      <p:sp>
        <p:nvSpPr>
          <p:cNvPr id="40" name="Text 27"/>
          <p:cNvSpPr/>
          <p:nvPr/>
        </p:nvSpPr>
        <p:spPr>
          <a:xfrm>
            <a:off x="5961960" y="43066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AI + signal-based scoring engine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7"/>
          <a:stretch/>
        </p:blipFill>
        <p:spPr>
          <a:xfrm>
            <a:off x="4343400" y="1673280"/>
            <a:ext cx="4517280" cy="2368440"/>
          </a:xfrm>
          <a:prstGeom prst="rect">
            <a:avLst/>
          </a:prstGeom>
          <a:ln w="0">
            <a:noFill/>
          </a:ln>
        </p:spPr>
      </p:pic>
      <p:pic>
        <p:nvPicPr>
          <p:cNvPr id="42" name="" descr=""/>
          <p:cNvPicPr/>
          <p:nvPr/>
        </p:nvPicPr>
        <p:blipFill>
          <a:blip r:embed="rId8"/>
          <a:stretch/>
        </p:blipFill>
        <p:spPr>
          <a:xfrm>
            <a:off x="7269480" y="18000"/>
            <a:ext cx="1782720" cy="53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411120"/>
          </a:xfrm>
          <a:prstGeom prst="rect">
            <a:avLst/>
          </a:prstGeom>
          <a:ln w="0">
            <a:noFill/>
          </a:ln>
        </p:spPr>
      </p:pic>
      <p:pic>
        <p:nvPicPr>
          <p:cNvPr id="44" name="Image 1" descr="preencoded.png"/>
          <p:cNvPicPr/>
          <p:nvPr/>
        </p:nvPicPr>
        <p:blipFill>
          <a:blip r:embed="rId2"/>
          <a:stretch/>
        </p:blipFill>
        <p:spPr>
          <a:xfrm>
            <a:off x="0" y="4869360"/>
            <a:ext cx="9143640" cy="273960"/>
          </a:xfrm>
          <a:prstGeom prst="rect">
            <a:avLst/>
          </a:prstGeom>
          <a:ln w="0">
            <a:noFill/>
          </a:ln>
        </p:spPr>
      </p:pic>
      <p:sp>
        <p:nvSpPr>
          <p:cNvPr id="45" name="Shape 0"/>
          <p:cNvSpPr/>
          <p:nvPr/>
        </p:nvSpPr>
        <p:spPr>
          <a:xfrm>
            <a:off x="7269480" y="45720"/>
            <a:ext cx="178272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7287840" y="730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42a0a"/>
                </a:solidFill>
                <a:latin typeface="Arial Black"/>
                <a:ea typeface="Arial Black"/>
              </a:rPr>
              <a:t>CHITKARA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7287840" y="292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333333"/>
                </a:solidFill>
                <a:latin typeface="Calibri"/>
                <a:ea typeface="Calibri"/>
              </a:rPr>
              <a:t>UNIVERSITY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&gt;&gt;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" name="Image 2" descr="preencoded.png"/>
          <p:cNvPicPr/>
          <p:nvPr/>
        </p:nvPicPr>
        <p:blipFill>
          <a:blip r:embed="rId3"/>
          <a:stretch/>
        </p:blipFill>
        <p:spPr>
          <a:xfrm>
            <a:off x="502920" y="5943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51" name="Text 5"/>
          <p:cNvSpPr/>
          <p:nvPr/>
        </p:nvSpPr>
        <p:spPr>
          <a:xfrm>
            <a:off x="777240" y="5486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Arial Black"/>
                <a:ea typeface="Arial Black"/>
              </a:rPr>
              <a:t>OSIR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411480" y="1005840"/>
            <a:ext cx="5303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00" strike="noStrike">
                <a:solidFill>
                  <a:srgbClr val="ffffff"/>
                </a:solidFill>
                <a:latin typeface="Arial Black"/>
                <a:ea typeface="Arial Black"/>
              </a:rPr>
              <a:t>PROBLEM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411480" y="1691640"/>
            <a:ext cx="5303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00" strike="noStrike">
                <a:solidFill>
                  <a:srgbClr val="ffffff"/>
                </a:solidFill>
                <a:latin typeface="Arial Black"/>
                <a:ea typeface="Arial Black"/>
              </a:rPr>
              <a:t>STATEMENT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Image 3" descr="preencoded.png"/>
          <p:cNvPicPr/>
          <p:nvPr/>
        </p:nvPicPr>
        <p:blipFill>
          <a:blip r:embed="rId4"/>
          <a:stretch/>
        </p:blipFill>
        <p:spPr>
          <a:xfrm>
            <a:off x="411480" y="2468880"/>
            <a:ext cx="2651400" cy="310680"/>
          </a:xfrm>
          <a:prstGeom prst="rect">
            <a:avLst/>
          </a:prstGeom>
          <a:ln w="0">
            <a:noFill/>
          </a:ln>
        </p:spPr>
      </p:pic>
      <p:sp>
        <p:nvSpPr>
          <p:cNvPr id="55" name="Text 8"/>
          <p:cNvSpPr/>
          <p:nvPr/>
        </p:nvSpPr>
        <p:spPr>
          <a:xfrm>
            <a:off x="411480" y="2468880"/>
            <a:ext cx="2651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fffff"/>
                </a:solidFill>
                <a:latin typeface="Arial Black"/>
                <a:ea typeface="Arial Black"/>
              </a:rPr>
              <a:t>A CORE, UNIVERSAL ISSUE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6" name="Image 4" descr="preencoded.png"/>
          <p:cNvPicPr/>
          <p:nvPr/>
        </p:nvPicPr>
        <p:blipFill>
          <a:blip r:embed="rId5"/>
          <a:stretch/>
        </p:blipFill>
        <p:spPr>
          <a:xfrm>
            <a:off x="411480" y="2853000"/>
            <a:ext cx="3108600" cy="36360"/>
          </a:xfrm>
          <a:prstGeom prst="rect">
            <a:avLst/>
          </a:prstGeom>
          <a:ln w="0">
            <a:noFill/>
          </a:ln>
        </p:spPr>
      </p:pic>
      <p:sp>
        <p:nvSpPr>
          <p:cNvPr id="57" name="Text 9"/>
          <p:cNvSpPr/>
          <p:nvPr/>
        </p:nvSpPr>
        <p:spPr>
          <a:xfrm>
            <a:off x="411480" y="292608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Why new contributors stall before their first PR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5074920" y="777240"/>
            <a:ext cx="3840120" cy="3931560"/>
          </a:xfrm>
          <a:prstGeom prst="roundRect">
            <a:avLst>
              <a:gd name="adj" fmla="val 3571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5257800" y="914400"/>
            <a:ext cx="3520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b422"/>
                </a:solidFill>
                <a:latin typeface="Arial Black"/>
                <a:ea typeface="Arial Black"/>
              </a:rPr>
              <a:t>Open source contribution is hard to start.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5257800" y="132588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Students and early-career developers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5257800" y="1554480"/>
            <a:ext cx="352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bfbfb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Comfortable with one or two stacks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bfbfb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Lack confidence in contributing to OSS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5257800" y="210312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"Good first issue" labels often: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5257800" y="2331720"/>
            <a:ext cx="3520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bfbfb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Are overcrowded by other beginners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bfbfb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Are poorly scoped or under-described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bfbfb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Are already actively worked 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5257800" y="315468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Finding an approachable issue means: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5257800" y="3383280"/>
            <a:ext cx="3520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bfbfb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Scanning dozens of repositories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bfbfb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Wasted hours on unsuitable threads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201"/>
              </a:spcAft>
              <a:buClr>
                <a:srgbClr val="bfbfbf"/>
              </a:buClr>
              <a:buFont typeface="Symbol" charset="2"/>
              <a:buChar char=""/>
            </a:pPr>
            <a:r>
              <a:rPr b="0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Discouragement and drop-off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8"/>
          <p:cNvSpPr/>
          <p:nvPr/>
        </p:nvSpPr>
        <p:spPr>
          <a:xfrm>
            <a:off x="5074920" y="4251960"/>
            <a:ext cx="54360" cy="41112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5212080" y="4251960"/>
            <a:ext cx="36115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Outcome: motivated learners abandon OSS before their first contribution.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" descr=""/>
          <p:cNvPicPr/>
          <p:nvPr/>
        </p:nvPicPr>
        <p:blipFill>
          <a:blip r:embed="rId6"/>
          <a:stretch/>
        </p:blipFill>
        <p:spPr>
          <a:xfrm>
            <a:off x="7269480" y="18360"/>
            <a:ext cx="1782720" cy="53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411120"/>
          </a:xfrm>
          <a:prstGeom prst="rect">
            <a:avLst/>
          </a:prstGeom>
          <a:ln w="0">
            <a:noFill/>
          </a:ln>
        </p:spPr>
      </p:pic>
      <p:pic>
        <p:nvPicPr>
          <p:cNvPr id="70" name="Image 1" descr="preencoded.png"/>
          <p:cNvPicPr/>
          <p:nvPr/>
        </p:nvPicPr>
        <p:blipFill>
          <a:blip r:embed="rId2"/>
          <a:stretch/>
        </p:blipFill>
        <p:spPr>
          <a:xfrm>
            <a:off x="0" y="4869360"/>
            <a:ext cx="9143640" cy="273960"/>
          </a:xfrm>
          <a:prstGeom prst="rect">
            <a:avLst/>
          </a:prstGeom>
          <a:ln w="0">
            <a:noFill/>
          </a:ln>
        </p:spPr>
      </p:pic>
      <p:sp>
        <p:nvSpPr>
          <p:cNvPr id="71" name="Shape 0"/>
          <p:cNvSpPr/>
          <p:nvPr/>
        </p:nvSpPr>
        <p:spPr>
          <a:xfrm>
            <a:off x="7269480" y="45720"/>
            <a:ext cx="178272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7287840" y="730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42a0a"/>
                </a:solidFill>
                <a:latin typeface="Arial Black"/>
                <a:ea typeface="Arial Black"/>
              </a:rPr>
              <a:t>CHITKARA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7287840" y="292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333333"/>
                </a:solidFill>
                <a:latin typeface="Calibri"/>
                <a:ea typeface="Calibri"/>
              </a:rPr>
              <a:t>UNIVERSITY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&gt;&gt;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" name="Image 2" descr="preencoded.png"/>
          <p:cNvPicPr/>
          <p:nvPr/>
        </p:nvPicPr>
        <p:blipFill>
          <a:blip r:embed="rId3"/>
          <a:stretch/>
        </p:blipFill>
        <p:spPr>
          <a:xfrm>
            <a:off x="502920" y="5943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77" name="Text 5"/>
          <p:cNvSpPr/>
          <p:nvPr/>
        </p:nvSpPr>
        <p:spPr>
          <a:xfrm>
            <a:off x="777240" y="5486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Arial Black"/>
                <a:ea typeface="Arial Black"/>
              </a:rPr>
              <a:t>OSIR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4846320" y="640080"/>
            <a:ext cx="393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00" strike="noStrike">
                <a:solidFill>
                  <a:srgbClr val="ffffff"/>
                </a:solidFill>
                <a:latin typeface="Arial Black"/>
                <a:ea typeface="Arial Black"/>
              </a:rPr>
              <a:t>OBJECTIVE (RAID)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" name="Image 3" descr="preencoded.png"/>
          <p:cNvPicPr/>
          <p:nvPr/>
        </p:nvPicPr>
        <p:blipFill>
          <a:blip r:embed="rId4"/>
          <a:stretch/>
        </p:blipFill>
        <p:spPr>
          <a:xfrm>
            <a:off x="411480" y="1188720"/>
            <a:ext cx="2377080" cy="310680"/>
          </a:xfrm>
          <a:prstGeom prst="rect">
            <a:avLst/>
          </a:prstGeom>
          <a:ln w="0">
            <a:noFill/>
          </a:ln>
        </p:spPr>
      </p:pic>
      <p:sp>
        <p:nvSpPr>
          <p:cNvPr id="80" name="Text 7"/>
          <p:cNvSpPr/>
          <p:nvPr/>
        </p:nvSpPr>
        <p:spPr>
          <a:xfrm>
            <a:off x="411480" y="1188720"/>
            <a:ext cx="2377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fffff"/>
                </a:solidFill>
                <a:latin typeface="Arial Black"/>
                <a:ea typeface="Arial Black"/>
              </a:rPr>
              <a:t>OBJECTIVE OF THE PROJECT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5943600" y="118872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Using modern web technologies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411480" y="1691640"/>
            <a:ext cx="4068720" cy="137124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411480" y="1691640"/>
            <a:ext cx="72720" cy="137124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" name="Image 4" descr="preencoded.png"/>
          <p:cNvPicPr/>
          <p:nvPr/>
        </p:nvPicPr>
        <p:blipFill>
          <a:blip r:embed="rId5"/>
          <a:stretch/>
        </p:blipFill>
        <p:spPr>
          <a:xfrm>
            <a:off x="640080" y="18745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85" name="Text 11"/>
          <p:cNvSpPr/>
          <p:nvPr/>
        </p:nvSpPr>
        <p:spPr>
          <a:xfrm>
            <a:off x="1124640" y="18561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ffb422"/>
                </a:solidFill>
                <a:latin typeface="Arial Black"/>
                <a:ea typeface="Arial Black"/>
              </a:rPr>
              <a:t>REDUCE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12"/>
          <p:cNvSpPr/>
          <p:nvPr/>
        </p:nvSpPr>
        <p:spPr>
          <a:xfrm>
            <a:off x="640080" y="2286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Time spent searching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3"/>
          <p:cNvSpPr/>
          <p:nvPr/>
        </p:nvSpPr>
        <p:spPr>
          <a:xfrm>
            <a:off x="640080" y="25603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Cut the hours new contributors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spend filtering through GitHub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14"/>
          <p:cNvSpPr/>
          <p:nvPr/>
        </p:nvSpPr>
        <p:spPr>
          <a:xfrm>
            <a:off x="4663440" y="1691640"/>
            <a:ext cx="4068720" cy="137124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5"/>
          <p:cNvSpPr/>
          <p:nvPr/>
        </p:nvSpPr>
        <p:spPr>
          <a:xfrm>
            <a:off x="4663440" y="1691640"/>
            <a:ext cx="72720" cy="137124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0" name="Image 5" descr="preencoded.png"/>
          <p:cNvPicPr/>
          <p:nvPr/>
        </p:nvPicPr>
        <p:blipFill>
          <a:blip r:embed="rId6"/>
          <a:stretch/>
        </p:blipFill>
        <p:spPr>
          <a:xfrm>
            <a:off x="4892040" y="18745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91" name="Text 16"/>
          <p:cNvSpPr/>
          <p:nvPr/>
        </p:nvSpPr>
        <p:spPr>
          <a:xfrm>
            <a:off x="5376600" y="18561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ffb422"/>
                </a:solidFill>
                <a:latin typeface="Arial Black"/>
                <a:ea typeface="Arial Black"/>
              </a:rPr>
              <a:t>ANALYZE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4892040" y="22860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Issue clarity &amp; difficulty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8"/>
          <p:cNvSpPr/>
          <p:nvPr/>
        </p:nvSpPr>
        <p:spPr>
          <a:xfrm>
            <a:off x="4892040" y="25603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Use AI to read descriptions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and discussion threads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19"/>
          <p:cNvSpPr/>
          <p:nvPr/>
        </p:nvSpPr>
        <p:spPr>
          <a:xfrm>
            <a:off x="411480" y="3200400"/>
            <a:ext cx="4068720" cy="137124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20"/>
          <p:cNvSpPr/>
          <p:nvPr/>
        </p:nvSpPr>
        <p:spPr>
          <a:xfrm>
            <a:off x="411480" y="3200400"/>
            <a:ext cx="72720" cy="137124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6" name="Image 6" descr="preencoded.png"/>
          <p:cNvPicPr/>
          <p:nvPr/>
        </p:nvPicPr>
        <p:blipFill>
          <a:blip r:embed="rId7"/>
          <a:stretch/>
        </p:blipFill>
        <p:spPr>
          <a:xfrm>
            <a:off x="640080" y="338328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97" name="Text 21"/>
          <p:cNvSpPr/>
          <p:nvPr/>
        </p:nvSpPr>
        <p:spPr>
          <a:xfrm>
            <a:off x="1124640" y="336492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ffb422"/>
                </a:solidFill>
                <a:latin typeface="Arial Black"/>
                <a:ea typeface="Arial Black"/>
              </a:rPr>
              <a:t>RANK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22"/>
          <p:cNvSpPr/>
          <p:nvPr/>
        </p:nvSpPr>
        <p:spPr>
          <a:xfrm>
            <a:off x="640080" y="37947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Issues by approachability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3"/>
          <p:cNvSpPr/>
          <p:nvPr/>
        </p:nvSpPr>
        <p:spPr>
          <a:xfrm>
            <a:off x="640080" y="40690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Combine freshness, comments,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labels, and tech stack signals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24"/>
          <p:cNvSpPr/>
          <p:nvPr/>
        </p:nvSpPr>
        <p:spPr>
          <a:xfrm>
            <a:off x="4663440" y="3200400"/>
            <a:ext cx="4068720" cy="137124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25"/>
          <p:cNvSpPr/>
          <p:nvPr/>
        </p:nvSpPr>
        <p:spPr>
          <a:xfrm>
            <a:off x="4663440" y="3200400"/>
            <a:ext cx="72720" cy="137124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Image 7" descr="preencoded.png"/>
          <p:cNvPicPr/>
          <p:nvPr/>
        </p:nvPicPr>
        <p:blipFill>
          <a:blip r:embed="rId8"/>
          <a:stretch/>
        </p:blipFill>
        <p:spPr>
          <a:xfrm>
            <a:off x="4892040" y="338328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03" name="Text 26"/>
          <p:cNvSpPr/>
          <p:nvPr/>
        </p:nvSpPr>
        <p:spPr>
          <a:xfrm>
            <a:off x="5376600" y="336492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199" strike="noStrike">
                <a:solidFill>
                  <a:srgbClr val="ffb422"/>
                </a:solidFill>
                <a:latin typeface="Arial Black"/>
                <a:ea typeface="Arial Black"/>
              </a:rPr>
              <a:t>EXPLAIN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27"/>
          <p:cNvSpPr/>
          <p:nvPr/>
        </p:nvSpPr>
        <p:spPr>
          <a:xfrm>
            <a:off x="4892040" y="37947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Why each issue is suggested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8"/>
          <p:cNvSpPr/>
          <p:nvPr/>
        </p:nvSpPr>
        <p:spPr>
          <a:xfrm>
            <a:off x="4892040" y="40690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Surface the primary signals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that influenced the ranking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9"/>
          <a:stretch/>
        </p:blipFill>
        <p:spPr>
          <a:xfrm>
            <a:off x="7269480" y="18360"/>
            <a:ext cx="1782720" cy="53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411120"/>
          </a:xfrm>
          <a:prstGeom prst="rect">
            <a:avLst/>
          </a:prstGeom>
          <a:ln w="0">
            <a:noFill/>
          </a:ln>
        </p:spPr>
      </p:pic>
      <p:pic>
        <p:nvPicPr>
          <p:cNvPr id="108" name="Image 1" descr="preencoded.png"/>
          <p:cNvPicPr/>
          <p:nvPr/>
        </p:nvPicPr>
        <p:blipFill>
          <a:blip r:embed="rId2"/>
          <a:stretch/>
        </p:blipFill>
        <p:spPr>
          <a:xfrm>
            <a:off x="0" y="4869360"/>
            <a:ext cx="9143640" cy="273960"/>
          </a:xfrm>
          <a:prstGeom prst="rect">
            <a:avLst/>
          </a:prstGeom>
          <a:ln w="0">
            <a:noFill/>
          </a:ln>
        </p:spPr>
      </p:pic>
      <p:sp>
        <p:nvSpPr>
          <p:cNvPr id="109" name="Shape 0"/>
          <p:cNvSpPr/>
          <p:nvPr/>
        </p:nvSpPr>
        <p:spPr>
          <a:xfrm>
            <a:off x="7269480" y="45720"/>
            <a:ext cx="178272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7287840" y="730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42a0a"/>
                </a:solidFill>
                <a:latin typeface="Arial Black"/>
                <a:ea typeface="Arial Black"/>
              </a:rPr>
              <a:t>CHITKARA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7287840" y="292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333333"/>
                </a:solidFill>
                <a:latin typeface="Calibri"/>
                <a:ea typeface="Calibri"/>
              </a:rPr>
              <a:t>UNIVERSITY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3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&gt;&gt;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4" name="Image 2" descr="preencoded.png"/>
          <p:cNvPicPr/>
          <p:nvPr/>
        </p:nvPicPr>
        <p:blipFill>
          <a:blip r:embed="rId3"/>
          <a:stretch/>
        </p:blipFill>
        <p:spPr>
          <a:xfrm>
            <a:off x="502920" y="5943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15" name="Text 5"/>
          <p:cNvSpPr/>
          <p:nvPr/>
        </p:nvSpPr>
        <p:spPr>
          <a:xfrm>
            <a:off x="777240" y="5486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Arial Black"/>
                <a:ea typeface="Arial Black"/>
              </a:rPr>
              <a:t>OSIR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411480" y="1005840"/>
            <a:ext cx="5303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00" strike="noStrike">
                <a:solidFill>
                  <a:srgbClr val="ffffff"/>
                </a:solidFill>
                <a:latin typeface="Arial Black"/>
                <a:ea typeface="Arial Black"/>
              </a:rPr>
              <a:t>PROPOSED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411480" y="1691640"/>
            <a:ext cx="5303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00" strike="noStrike">
                <a:solidFill>
                  <a:srgbClr val="ffffff"/>
                </a:solidFill>
                <a:latin typeface="Arial Black"/>
                <a:ea typeface="Arial Black"/>
              </a:rPr>
              <a:t>SOLUTION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Image 3" descr="preencoded.png"/>
          <p:cNvPicPr/>
          <p:nvPr/>
        </p:nvPicPr>
        <p:blipFill>
          <a:blip r:embed="rId4"/>
          <a:stretch/>
        </p:blipFill>
        <p:spPr>
          <a:xfrm>
            <a:off x="411480" y="2468880"/>
            <a:ext cx="2559960" cy="310680"/>
          </a:xfrm>
          <a:prstGeom prst="rect">
            <a:avLst/>
          </a:prstGeom>
          <a:ln w="0">
            <a:noFill/>
          </a:ln>
        </p:spPr>
      </p:pic>
      <p:sp>
        <p:nvSpPr>
          <p:cNvPr id="119" name="Text 8"/>
          <p:cNvSpPr/>
          <p:nvPr/>
        </p:nvSpPr>
        <p:spPr>
          <a:xfrm>
            <a:off x="411480" y="2468880"/>
            <a:ext cx="2559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fffff"/>
                </a:solidFill>
                <a:latin typeface="Arial Black"/>
                <a:ea typeface="Arial Black"/>
              </a:rPr>
              <a:t>CORE VALUE PROPOSITION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" name="Image 4" descr="preencoded.png"/>
          <p:cNvPicPr/>
          <p:nvPr/>
        </p:nvPicPr>
        <p:blipFill>
          <a:blip r:embed="rId5"/>
          <a:stretch/>
        </p:blipFill>
        <p:spPr>
          <a:xfrm>
            <a:off x="411480" y="2853000"/>
            <a:ext cx="3017160" cy="36360"/>
          </a:xfrm>
          <a:prstGeom prst="rect">
            <a:avLst/>
          </a:prstGeom>
          <a:ln w="0">
            <a:noFill/>
          </a:ln>
        </p:spPr>
      </p:pic>
      <p:sp>
        <p:nvSpPr>
          <p:cNvPr id="121" name="Text 9"/>
          <p:cNvSpPr/>
          <p:nvPr/>
        </p:nvSpPr>
        <p:spPr>
          <a:xfrm>
            <a:off x="411480" y="292608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A backend service that curates, scores, and explains GitHub issues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>
            <a:off x="5074920" y="777240"/>
            <a:ext cx="3840120" cy="3245760"/>
          </a:xfrm>
          <a:prstGeom prst="roundRect">
            <a:avLst>
              <a:gd name="adj" fmla="val 4225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5257800" y="914400"/>
            <a:ext cx="3520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422"/>
                </a:solidFill>
                <a:latin typeface="Arial Black"/>
                <a:ea typeface="Arial Black"/>
              </a:rPr>
              <a:t>What the system does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4" name="Image 5" descr="preencoded.png"/>
          <p:cNvPicPr/>
          <p:nvPr/>
        </p:nvPicPr>
        <p:blipFill>
          <a:blip r:embed="rId6"/>
          <a:stretch/>
        </p:blipFill>
        <p:spPr>
          <a:xfrm>
            <a:off x="5257800" y="13168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25" name="Text 12"/>
          <p:cNvSpPr/>
          <p:nvPr/>
        </p:nvSpPr>
        <p:spPr>
          <a:xfrm>
            <a:off x="5577840" y="1280160"/>
            <a:ext cx="324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Analyzes issues across many repositories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6" name="Image 6" descr="preencoded.png"/>
          <p:cNvPicPr/>
          <p:nvPr/>
        </p:nvPicPr>
        <p:blipFill>
          <a:blip r:embed="rId7"/>
          <a:stretch/>
        </p:blipFill>
        <p:spPr>
          <a:xfrm>
            <a:off x="5257800" y="17373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27" name="Text 13"/>
          <p:cNvSpPr/>
          <p:nvPr/>
        </p:nvSpPr>
        <p:spPr>
          <a:xfrm>
            <a:off x="5577840" y="1700640"/>
            <a:ext cx="324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Reads descriptions and discussion threads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8" name="Image 7" descr="preencoded.png"/>
          <p:cNvPicPr/>
          <p:nvPr/>
        </p:nvPicPr>
        <p:blipFill>
          <a:blip r:embed="rId8"/>
          <a:stretch/>
        </p:blipFill>
        <p:spPr>
          <a:xfrm>
            <a:off x="5257800" y="215784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29" name="Text 14"/>
          <p:cNvSpPr/>
          <p:nvPr/>
        </p:nvSpPr>
        <p:spPr>
          <a:xfrm>
            <a:off x="5577840" y="2121480"/>
            <a:ext cx="324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Filters by skill alignment with the user's stack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0" name="Image 8" descr="preencoded.png"/>
          <p:cNvPicPr/>
          <p:nvPr/>
        </p:nvPicPr>
        <p:blipFill>
          <a:blip r:embed="rId9"/>
          <a:stretch/>
        </p:blipFill>
        <p:spPr>
          <a:xfrm>
            <a:off x="5257800" y="25786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31" name="Text 15"/>
          <p:cNvSpPr/>
          <p:nvPr/>
        </p:nvSpPr>
        <p:spPr>
          <a:xfrm>
            <a:off x="5577840" y="2541960"/>
            <a:ext cx="324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Detects overcrowding from engagement signals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2" name="Image 9" descr="preencoded.png"/>
          <p:cNvPicPr/>
          <p:nvPr/>
        </p:nvPicPr>
        <p:blipFill>
          <a:blip r:embed="rId10"/>
          <a:stretch/>
        </p:blipFill>
        <p:spPr>
          <a:xfrm>
            <a:off x="5257800" y="29991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33" name="Text 16"/>
          <p:cNvSpPr/>
          <p:nvPr/>
        </p:nvSpPr>
        <p:spPr>
          <a:xfrm>
            <a:off x="5577840" y="2962800"/>
            <a:ext cx="324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Estimates difficulty with AI assistance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4" name="Image 10" descr="preencoded.png"/>
          <p:cNvPicPr/>
          <p:nvPr/>
        </p:nvPicPr>
        <p:blipFill>
          <a:blip r:embed="rId11"/>
          <a:stretch/>
        </p:blipFill>
        <p:spPr>
          <a:xfrm>
            <a:off x="5257800" y="34200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135" name="Text 17"/>
          <p:cNvSpPr/>
          <p:nvPr/>
        </p:nvSpPr>
        <p:spPr>
          <a:xfrm>
            <a:off x="5577840" y="3383280"/>
            <a:ext cx="32457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Returns each pick with transparent ranking signals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8"/>
          <p:cNvSpPr/>
          <p:nvPr/>
        </p:nvSpPr>
        <p:spPr>
          <a:xfrm>
            <a:off x="411480" y="4160520"/>
            <a:ext cx="4160160" cy="502560"/>
          </a:xfrm>
          <a:prstGeom prst="roundRect">
            <a:avLst>
              <a:gd name="adj" fmla="val 21818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7" name="Image 11" descr="preencoded.png"/>
          <p:cNvPicPr/>
          <p:nvPr/>
        </p:nvPicPr>
        <p:blipFill>
          <a:blip r:embed="rId12"/>
          <a:stretch/>
        </p:blipFill>
        <p:spPr>
          <a:xfrm>
            <a:off x="548640" y="42793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38" name="Text 19"/>
          <p:cNvSpPr/>
          <p:nvPr/>
        </p:nvSpPr>
        <p:spPr>
          <a:xfrm>
            <a:off x="914400" y="416052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Resilient: AI-first, with a deterministic signal-based fallback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20"/>
          <p:cNvSpPr/>
          <p:nvPr/>
        </p:nvSpPr>
        <p:spPr>
          <a:xfrm>
            <a:off x="4754880" y="4160520"/>
            <a:ext cx="4160160" cy="502560"/>
          </a:xfrm>
          <a:prstGeom prst="roundRect">
            <a:avLst>
              <a:gd name="adj" fmla="val 21818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0" name="Image 12" descr="preencoded.png"/>
          <p:cNvPicPr/>
          <p:nvPr/>
        </p:nvPicPr>
        <p:blipFill>
          <a:blip r:embed="rId13"/>
          <a:stretch/>
        </p:blipFill>
        <p:spPr>
          <a:xfrm>
            <a:off x="4892040" y="42793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41" name="Text 21"/>
          <p:cNvSpPr/>
          <p:nvPr/>
        </p:nvSpPr>
        <p:spPr>
          <a:xfrm>
            <a:off x="5257800" y="416052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Transparent: every recommendation explains its top signals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2" name="" descr=""/>
          <p:cNvPicPr/>
          <p:nvPr/>
        </p:nvPicPr>
        <p:blipFill>
          <a:blip r:embed="rId14"/>
          <a:stretch/>
        </p:blipFill>
        <p:spPr>
          <a:xfrm>
            <a:off x="7269480" y="18360"/>
            <a:ext cx="1782720" cy="53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411120"/>
          </a:xfrm>
          <a:prstGeom prst="rect">
            <a:avLst/>
          </a:prstGeom>
          <a:ln w="0">
            <a:noFill/>
          </a:ln>
        </p:spPr>
      </p:pic>
      <p:pic>
        <p:nvPicPr>
          <p:cNvPr id="144" name="Image 1" descr="preencoded.png"/>
          <p:cNvPicPr/>
          <p:nvPr/>
        </p:nvPicPr>
        <p:blipFill>
          <a:blip r:embed="rId2"/>
          <a:stretch/>
        </p:blipFill>
        <p:spPr>
          <a:xfrm>
            <a:off x="0" y="4869360"/>
            <a:ext cx="9143640" cy="273960"/>
          </a:xfrm>
          <a:prstGeom prst="rect">
            <a:avLst/>
          </a:prstGeom>
          <a:ln w="0">
            <a:noFill/>
          </a:ln>
        </p:spPr>
      </p:pic>
      <p:sp>
        <p:nvSpPr>
          <p:cNvPr id="145" name="Shape 0"/>
          <p:cNvSpPr/>
          <p:nvPr/>
        </p:nvSpPr>
        <p:spPr>
          <a:xfrm>
            <a:off x="7269480" y="45720"/>
            <a:ext cx="178272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7287840" y="730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42a0a"/>
                </a:solidFill>
                <a:latin typeface="Arial Black"/>
                <a:ea typeface="Arial Black"/>
              </a:rPr>
              <a:t>CHITKARA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7287840" y="292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333333"/>
                </a:solidFill>
                <a:latin typeface="Calibri"/>
                <a:ea typeface="Calibri"/>
              </a:rPr>
              <a:t>UNIVERSITY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&gt;&gt;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0" name="Image 2" descr="preencoded.png"/>
          <p:cNvPicPr/>
          <p:nvPr/>
        </p:nvPicPr>
        <p:blipFill>
          <a:blip r:embed="rId3"/>
          <a:stretch/>
        </p:blipFill>
        <p:spPr>
          <a:xfrm>
            <a:off x="502920" y="5943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151" name="Text 5"/>
          <p:cNvSpPr/>
          <p:nvPr/>
        </p:nvSpPr>
        <p:spPr>
          <a:xfrm>
            <a:off x="777240" y="5486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Arial Black"/>
                <a:ea typeface="Arial Black"/>
              </a:rPr>
              <a:t>OSIR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4114800" y="59436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00" strike="noStrike">
                <a:solidFill>
                  <a:srgbClr val="ffffff"/>
                </a:solidFill>
                <a:latin typeface="Arial Black"/>
                <a:ea typeface="Arial Black"/>
              </a:rPr>
              <a:t>SYSTEM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4114800" y="1005840"/>
            <a:ext cx="4663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00" strike="noStrike">
                <a:solidFill>
                  <a:srgbClr val="ffffff"/>
                </a:solidFill>
                <a:latin typeface="Arial Black"/>
                <a:ea typeface="Arial Black"/>
              </a:rPr>
              <a:t>ARCHITECTURE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4" name="Image 3" descr="preencoded.png"/>
          <p:cNvPicPr/>
          <p:nvPr/>
        </p:nvPicPr>
        <p:blipFill>
          <a:blip r:embed="rId4"/>
          <a:stretch/>
        </p:blipFill>
        <p:spPr>
          <a:xfrm>
            <a:off x="411480" y="1325880"/>
            <a:ext cx="2742840" cy="310680"/>
          </a:xfrm>
          <a:prstGeom prst="rect">
            <a:avLst/>
          </a:prstGeom>
          <a:ln w="0">
            <a:noFill/>
          </a:ln>
        </p:spPr>
      </p:pic>
      <p:sp>
        <p:nvSpPr>
          <p:cNvPr id="155" name="Text 8"/>
          <p:cNvSpPr/>
          <p:nvPr/>
        </p:nvSpPr>
        <p:spPr>
          <a:xfrm>
            <a:off x="411480" y="1325880"/>
            <a:ext cx="2742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7" strike="noStrike">
                <a:solidFill>
                  <a:srgbClr val="ffffff"/>
                </a:solidFill>
                <a:latin typeface="Arial Black"/>
                <a:ea typeface="Arial Black"/>
              </a:rPr>
              <a:t>EVENT-DRIVEN, MERN-BASED PIPELINE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9"/>
          <p:cNvSpPr/>
          <p:nvPr/>
        </p:nvSpPr>
        <p:spPr>
          <a:xfrm>
            <a:off x="411480" y="1920240"/>
            <a:ext cx="1554120" cy="1416960"/>
          </a:xfrm>
          <a:prstGeom prst="roundRect">
            <a:avLst>
              <a:gd name="adj" fmla="val 7742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0"/>
          <p:cNvSpPr/>
          <p:nvPr/>
        </p:nvSpPr>
        <p:spPr>
          <a:xfrm>
            <a:off x="411480" y="1920240"/>
            <a:ext cx="1554120" cy="5436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502920" y="2011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422"/>
                </a:solidFill>
                <a:latin typeface="Arial Black"/>
                <a:ea typeface="Arial Black"/>
              </a:rPr>
              <a:t>01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9" name="Image 4" descr="preencoded.png"/>
          <p:cNvPicPr/>
          <p:nvPr/>
        </p:nvPicPr>
        <p:blipFill>
          <a:blip r:embed="rId5"/>
          <a:stretch/>
        </p:blipFill>
        <p:spPr>
          <a:xfrm>
            <a:off x="1463040" y="20574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60" name="Text 12"/>
          <p:cNvSpPr/>
          <p:nvPr/>
        </p:nvSpPr>
        <p:spPr>
          <a:xfrm>
            <a:off x="502920" y="24231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ffffff"/>
                </a:solidFill>
                <a:latin typeface="Arial Black"/>
                <a:ea typeface="Arial Black"/>
              </a:rPr>
              <a:t>INPUT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13"/>
          <p:cNvSpPr/>
          <p:nvPr/>
        </p:nvSpPr>
        <p:spPr>
          <a:xfrm>
            <a:off x="502920" y="2697480"/>
            <a:ext cx="137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User skills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+ tech stack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2" name="Image 5" descr="preencoded.png"/>
          <p:cNvPicPr/>
          <p:nvPr/>
        </p:nvPicPr>
        <p:blipFill>
          <a:blip r:embed="rId6"/>
          <a:stretch/>
        </p:blipFill>
        <p:spPr>
          <a:xfrm>
            <a:off x="1984320" y="2555640"/>
            <a:ext cx="145800" cy="145800"/>
          </a:xfrm>
          <a:prstGeom prst="rect">
            <a:avLst/>
          </a:prstGeom>
          <a:ln w="0">
            <a:noFill/>
          </a:ln>
        </p:spPr>
      </p:pic>
      <p:sp>
        <p:nvSpPr>
          <p:cNvPr id="163" name="Shape 14"/>
          <p:cNvSpPr/>
          <p:nvPr/>
        </p:nvSpPr>
        <p:spPr>
          <a:xfrm>
            <a:off x="2148840" y="1920240"/>
            <a:ext cx="1554120" cy="1416960"/>
          </a:xfrm>
          <a:prstGeom prst="roundRect">
            <a:avLst>
              <a:gd name="adj" fmla="val 7742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15"/>
          <p:cNvSpPr/>
          <p:nvPr/>
        </p:nvSpPr>
        <p:spPr>
          <a:xfrm>
            <a:off x="2148840" y="1920240"/>
            <a:ext cx="1554120" cy="5436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2240280" y="2011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422"/>
                </a:solidFill>
                <a:latin typeface="Arial Black"/>
                <a:ea typeface="Arial Black"/>
              </a:rPr>
              <a:t>02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6" name="Image 6" descr="preencoded.png"/>
          <p:cNvPicPr/>
          <p:nvPr/>
        </p:nvPicPr>
        <p:blipFill>
          <a:blip r:embed="rId7"/>
          <a:stretch/>
        </p:blipFill>
        <p:spPr>
          <a:xfrm>
            <a:off x="3200400" y="20574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67" name="Text 17"/>
          <p:cNvSpPr/>
          <p:nvPr/>
        </p:nvSpPr>
        <p:spPr>
          <a:xfrm>
            <a:off x="2240280" y="24231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ffffff"/>
                </a:solidFill>
                <a:latin typeface="Arial Black"/>
                <a:ea typeface="Arial Black"/>
              </a:rPr>
              <a:t>FETCH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18"/>
          <p:cNvSpPr/>
          <p:nvPr/>
        </p:nvSpPr>
        <p:spPr>
          <a:xfrm>
            <a:off x="2240280" y="2697480"/>
            <a:ext cx="137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GitHub API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issue collector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9" name="Image 7" descr="preencoded.png"/>
          <p:cNvPicPr/>
          <p:nvPr/>
        </p:nvPicPr>
        <p:blipFill>
          <a:blip r:embed="rId8"/>
          <a:stretch/>
        </p:blipFill>
        <p:spPr>
          <a:xfrm>
            <a:off x="3721680" y="2555640"/>
            <a:ext cx="145800" cy="145800"/>
          </a:xfrm>
          <a:prstGeom prst="rect">
            <a:avLst/>
          </a:prstGeom>
          <a:ln w="0">
            <a:noFill/>
          </a:ln>
        </p:spPr>
      </p:pic>
      <p:sp>
        <p:nvSpPr>
          <p:cNvPr id="170" name="Shape 19"/>
          <p:cNvSpPr/>
          <p:nvPr/>
        </p:nvSpPr>
        <p:spPr>
          <a:xfrm>
            <a:off x="3886200" y="1920240"/>
            <a:ext cx="1554120" cy="1416960"/>
          </a:xfrm>
          <a:prstGeom prst="roundRect">
            <a:avLst>
              <a:gd name="adj" fmla="val 7742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20"/>
          <p:cNvSpPr/>
          <p:nvPr/>
        </p:nvSpPr>
        <p:spPr>
          <a:xfrm>
            <a:off x="3886200" y="1920240"/>
            <a:ext cx="1554120" cy="5436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21"/>
          <p:cNvSpPr/>
          <p:nvPr/>
        </p:nvSpPr>
        <p:spPr>
          <a:xfrm>
            <a:off x="3977640" y="2011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422"/>
                </a:solidFill>
                <a:latin typeface="Arial Black"/>
                <a:ea typeface="Arial Black"/>
              </a:rPr>
              <a:t>03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3" name="Image 8" descr="preencoded.png"/>
          <p:cNvPicPr/>
          <p:nvPr/>
        </p:nvPicPr>
        <p:blipFill>
          <a:blip r:embed="rId9"/>
          <a:stretch/>
        </p:blipFill>
        <p:spPr>
          <a:xfrm>
            <a:off x="4937760" y="20574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74" name="Text 22"/>
          <p:cNvSpPr/>
          <p:nvPr/>
        </p:nvSpPr>
        <p:spPr>
          <a:xfrm>
            <a:off x="3977640" y="24231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ffffff"/>
                </a:solidFill>
                <a:latin typeface="Arial Black"/>
                <a:ea typeface="Arial Black"/>
              </a:rPr>
              <a:t>ANALYZE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23"/>
          <p:cNvSpPr/>
          <p:nvPr/>
        </p:nvSpPr>
        <p:spPr>
          <a:xfrm>
            <a:off x="3977640" y="2697480"/>
            <a:ext cx="137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AI assessment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(Meta Llama)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6" name="Image 9" descr="preencoded.png"/>
          <p:cNvPicPr/>
          <p:nvPr/>
        </p:nvPicPr>
        <p:blipFill>
          <a:blip r:embed="rId10"/>
          <a:stretch/>
        </p:blipFill>
        <p:spPr>
          <a:xfrm>
            <a:off x="5459040" y="2555640"/>
            <a:ext cx="145800" cy="145800"/>
          </a:xfrm>
          <a:prstGeom prst="rect">
            <a:avLst/>
          </a:prstGeom>
          <a:ln w="0">
            <a:noFill/>
          </a:ln>
        </p:spPr>
      </p:pic>
      <p:sp>
        <p:nvSpPr>
          <p:cNvPr id="177" name="Shape 24"/>
          <p:cNvSpPr/>
          <p:nvPr/>
        </p:nvSpPr>
        <p:spPr>
          <a:xfrm>
            <a:off x="5623560" y="1920240"/>
            <a:ext cx="1554120" cy="1416960"/>
          </a:xfrm>
          <a:prstGeom prst="roundRect">
            <a:avLst>
              <a:gd name="adj" fmla="val 7742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25"/>
          <p:cNvSpPr/>
          <p:nvPr/>
        </p:nvSpPr>
        <p:spPr>
          <a:xfrm>
            <a:off x="5623560" y="1920240"/>
            <a:ext cx="1554120" cy="5436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26"/>
          <p:cNvSpPr/>
          <p:nvPr/>
        </p:nvSpPr>
        <p:spPr>
          <a:xfrm>
            <a:off x="5715000" y="2011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422"/>
                </a:solidFill>
                <a:latin typeface="Arial Black"/>
                <a:ea typeface="Arial Black"/>
              </a:rPr>
              <a:t>04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0" name="Image 10" descr="preencoded.png"/>
          <p:cNvPicPr/>
          <p:nvPr/>
        </p:nvPicPr>
        <p:blipFill>
          <a:blip r:embed="rId11"/>
          <a:stretch/>
        </p:blipFill>
        <p:spPr>
          <a:xfrm>
            <a:off x="6675120" y="20574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81" name="Text 27"/>
          <p:cNvSpPr/>
          <p:nvPr/>
        </p:nvSpPr>
        <p:spPr>
          <a:xfrm>
            <a:off x="5715000" y="24231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ffffff"/>
                </a:solidFill>
                <a:latin typeface="Arial Black"/>
                <a:ea typeface="Arial Black"/>
              </a:rPr>
              <a:t>SCORE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8"/>
          <p:cNvSpPr/>
          <p:nvPr/>
        </p:nvSpPr>
        <p:spPr>
          <a:xfrm>
            <a:off x="5715000" y="2697480"/>
            <a:ext cx="137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Signal-based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scoring engine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3" name="Image 11" descr="preencoded.png"/>
          <p:cNvPicPr/>
          <p:nvPr/>
        </p:nvPicPr>
        <p:blipFill>
          <a:blip r:embed="rId12"/>
          <a:stretch/>
        </p:blipFill>
        <p:spPr>
          <a:xfrm>
            <a:off x="7196400" y="2555640"/>
            <a:ext cx="145800" cy="145800"/>
          </a:xfrm>
          <a:prstGeom prst="rect">
            <a:avLst/>
          </a:prstGeom>
          <a:ln w="0">
            <a:noFill/>
          </a:ln>
        </p:spPr>
      </p:pic>
      <p:sp>
        <p:nvSpPr>
          <p:cNvPr id="184" name="Shape 29"/>
          <p:cNvSpPr/>
          <p:nvPr/>
        </p:nvSpPr>
        <p:spPr>
          <a:xfrm>
            <a:off x="7360920" y="1920240"/>
            <a:ext cx="1554120" cy="1416960"/>
          </a:xfrm>
          <a:prstGeom prst="roundRect">
            <a:avLst>
              <a:gd name="adj" fmla="val 7742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30"/>
          <p:cNvSpPr/>
          <p:nvPr/>
        </p:nvSpPr>
        <p:spPr>
          <a:xfrm>
            <a:off x="7360920" y="1920240"/>
            <a:ext cx="1554120" cy="5436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31"/>
          <p:cNvSpPr/>
          <p:nvPr/>
        </p:nvSpPr>
        <p:spPr>
          <a:xfrm>
            <a:off x="7452360" y="2011680"/>
            <a:ext cx="548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422"/>
                </a:solidFill>
                <a:latin typeface="Arial Black"/>
                <a:ea typeface="Arial Black"/>
              </a:rPr>
              <a:t>05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7" name="Image 12" descr="preencoded.png"/>
          <p:cNvPicPr/>
          <p:nvPr/>
        </p:nvPicPr>
        <p:blipFill>
          <a:blip r:embed="rId13"/>
          <a:stretch/>
        </p:blipFill>
        <p:spPr>
          <a:xfrm>
            <a:off x="8412480" y="20574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88" name="Text 32"/>
          <p:cNvSpPr/>
          <p:nvPr/>
        </p:nvSpPr>
        <p:spPr>
          <a:xfrm>
            <a:off x="7452360" y="24231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97" strike="noStrike">
                <a:solidFill>
                  <a:srgbClr val="ffffff"/>
                </a:solidFill>
                <a:latin typeface="Arial Black"/>
                <a:ea typeface="Arial Black"/>
              </a:rPr>
              <a:t>OUTPUT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33"/>
          <p:cNvSpPr/>
          <p:nvPr/>
        </p:nvSpPr>
        <p:spPr>
          <a:xfrm>
            <a:off x="7452360" y="2697480"/>
            <a:ext cx="1371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Ranked list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bfbfbf"/>
                </a:solidFill>
                <a:latin typeface="Calibri"/>
                <a:ea typeface="Calibri"/>
              </a:rPr>
              <a:t>+ explanations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Shape 34"/>
          <p:cNvSpPr/>
          <p:nvPr/>
        </p:nvSpPr>
        <p:spPr>
          <a:xfrm>
            <a:off x="411480" y="3520440"/>
            <a:ext cx="5760360" cy="1188360"/>
          </a:xfrm>
          <a:prstGeom prst="roundRect">
            <a:avLst>
              <a:gd name="adj" fmla="val 9231"/>
            </a:avLst>
          </a:prstGeom>
          <a:solidFill>
            <a:srgbClr val="111111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35"/>
          <p:cNvSpPr/>
          <p:nvPr/>
        </p:nvSpPr>
        <p:spPr>
          <a:xfrm>
            <a:off x="594360" y="36118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fb422"/>
                </a:solidFill>
                <a:latin typeface="Arial Black"/>
                <a:ea typeface="Arial Black"/>
              </a:rPr>
              <a:t>LAYER BREAKDOWN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36"/>
          <p:cNvSpPr/>
          <p:nvPr/>
        </p:nvSpPr>
        <p:spPr>
          <a:xfrm>
            <a:off x="594360" y="3840480"/>
            <a:ext cx="55774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Frontend: React (skills input, results UI, signal explainer)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Backend: Node.js + Express (orchestration, scoring, caching)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Data: MongoDB (cached issues), GitHub REST/GraphQL (live source)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AI: Meta Llama via API (clarity, difficulty, crowd estimation)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37"/>
          <p:cNvSpPr/>
          <p:nvPr/>
        </p:nvSpPr>
        <p:spPr>
          <a:xfrm>
            <a:off x="6355080" y="3520440"/>
            <a:ext cx="2559960" cy="1188360"/>
          </a:xfrm>
          <a:prstGeom prst="roundRect">
            <a:avLst>
              <a:gd name="adj" fmla="val 9231"/>
            </a:avLst>
          </a:prstGeom>
          <a:solidFill>
            <a:srgbClr val="171717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4" name="Image 13" descr="preencoded.png"/>
          <p:cNvPicPr/>
          <p:nvPr/>
        </p:nvPicPr>
        <p:blipFill>
          <a:blip r:embed="rId14"/>
          <a:stretch/>
        </p:blipFill>
        <p:spPr>
          <a:xfrm>
            <a:off x="6492240" y="36302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95" name="Text 38"/>
          <p:cNvSpPr/>
          <p:nvPr/>
        </p:nvSpPr>
        <p:spPr>
          <a:xfrm>
            <a:off x="6812280" y="36118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23a14"/>
                </a:solidFill>
                <a:latin typeface="Arial Black"/>
                <a:ea typeface="Arial Black"/>
              </a:rPr>
              <a:t>FALLBACK MODE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39"/>
          <p:cNvSpPr/>
          <p:nvPr/>
        </p:nvSpPr>
        <p:spPr>
          <a:xfrm>
            <a:off x="6492240" y="3931920"/>
            <a:ext cx="2331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fbfbf"/>
                </a:solidFill>
                <a:latin typeface="Calibri"/>
                <a:ea typeface="Calibri"/>
              </a:rPr>
              <a:t>If AI services are unavailable, the system falls back to a deterministic signal-based scoring model.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7" name="" descr=""/>
          <p:cNvPicPr/>
          <p:nvPr/>
        </p:nvPicPr>
        <p:blipFill>
          <a:blip r:embed="rId15"/>
          <a:stretch/>
        </p:blipFill>
        <p:spPr>
          <a:xfrm>
            <a:off x="7269480" y="18360"/>
            <a:ext cx="1782720" cy="53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411120"/>
          </a:xfrm>
          <a:prstGeom prst="rect">
            <a:avLst/>
          </a:prstGeom>
          <a:ln w="0">
            <a:noFill/>
          </a:ln>
        </p:spPr>
      </p:pic>
      <p:pic>
        <p:nvPicPr>
          <p:cNvPr id="199" name="Image 1" descr="preencoded.png"/>
          <p:cNvPicPr/>
          <p:nvPr/>
        </p:nvPicPr>
        <p:blipFill>
          <a:blip r:embed="rId2"/>
          <a:stretch/>
        </p:blipFill>
        <p:spPr>
          <a:xfrm>
            <a:off x="0" y="4869360"/>
            <a:ext cx="9143640" cy="273960"/>
          </a:xfrm>
          <a:prstGeom prst="rect">
            <a:avLst/>
          </a:prstGeom>
          <a:ln w="0">
            <a:noFill/>
          </a:ln>
        </p:spPr>
      </p:pic>
      <p:sp>
        <p:nvSpPr>
          <p:cNvPr id="200" name="Shape 0"/>
          <p:cNvSpPr/>
          <p:nvPr/>
        </p:nvSpPr>
        <p:spPr>
          <a:xfrm>
            <a:off x="7269480" y="45720"/>
            <a:ext cx="178272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7287840" y="730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42a0a"/>
                </a:solidFill>
                <a:latin typeface="Arial Black"/>
                <a:ea typeface="Arial Black"/>
              </a:rPr>
              <a:t>CHITKARA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2"/>
          <p:cNvSpPr/>
          <p:nvPr/>
        </p:nvSpPr>
        <p:spPr>
          <a:xfrm>
            <a:off x="7287840" y="292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333333"/>
                </a:solidFill>
                <a:latin typeface="Calibri"/>
                <a:ea typeface="Calibri"/>
              </a:rPr>
              <a:t>UNIVERSITY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4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&gt;&gt;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5" name="Image 2" descr="preencoded.png"/>
          <p:cNvPicPr/>
          <p:nvPr/>
        </p:nvPicPr>
        <p:blipFill>
          <a:blip r:embed="rId3"/>
          <a:stretch/>
        </p:blipFill>
        <p:spPr>
          <a:xfrm>
            <a:off x="502920" y="5943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06" name="Text 5"/>
          <p:cNvSpPr/>
          <p:nvPr/>
        </p:nvSpPr>
        <p:spPr>
          <a:xfrm>
            <a:off x="777240" y="5486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Arial Black"/>
                <a:ea typeface="Arial Black"/>
              </a:rPr>
              <a:t>OSIR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411480" y="1005840"/>
            <a:ext cx="5303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00" strike="noStrike">
                <a:solidFill>
                  <a:srgbClr val="ffffff"/>
                </a:solidFill>
                <a:latin typeface="Arial Black"/>
                <a:ea typeface="Arial Black"/>
              </a:rPr>
              <a:t>TECHNOLOGY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411480" y="1691640"/>
            <a:ext cx="5303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00" strike="noStrike">
                <a:solidFill>
                  <a:srgbClr val="ffffff"/>
                </a:solidFill>
                <a:latin typeface="Arial Black"/>
                <a:ea typeface="Arial Black"/>
              </a:rPr>
              <a:t>STACK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9" name="Image 3" descr="preencoded.png"/>
          <p:cNvPicPr/>
          <p:nvPr/>
        </p:nvPicPr>
        <p:blipFill>
          <a:blip r:embed="rId4"/>
          <a:stretch/>
        </p:blipFill>
        <p:spPr>
          <a:xfrm>
            <a:off x="411480" y="2468880"/>
            <a:ext cx="1828440" cy="310680"/>
          </a:xfrm>
          <a:prstGeom prst="rect">
            <a:avLst/>
          </a:prstGeom>
          <a:ln w="0">
            <a:noFill/>
          </a:ln>
        </p:spPr>
      </p:pic>
      <p:sp>
        <p:nvSpPr>
          <p:cNvPr id="210" name="Text 8"/>
          <p:cNvSpPr/>
          <p:nvPr/>
        </p:nvSpPr>
        <p:spPr>
          <a:xfrm>
            <a:off x="411480" y="2468880"/>
            <a:ext cx="1828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fffff"/>
                </a:solidFill>
                <a:latin typeface="Arial Black"/>
                <a:ea typeface="Arial Black"/>
              </a:rPr>
              <a:t>MERN + AI APIs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1" name="Image 4" descr="preencoded.png"/>
          <p:cNvPicPr/>
          <p:nvPr/>
        </p:nvPicPr>
        <p:blipFill>
          <a:blip r:embed="rId5"/>
          <a:stretch/>
        </p:blipFill>
        <p:spPr>
          <a:xfrm>
            <a:off x="411480" y="2853000"/>
            <a:ext cx="2285640" cy="36360"/>
          </a:xfrm>
          <a:prstGeom prst="rect">
            <a:avLst/>
          </a:prstGeom>
          <a:ln w="0">
            <a:noFill/>
          </a:ln>
        </p:spPr>
      </p:pic>
      <p:sp>
        <p:nvSpPr>
          <p:cNvPr id="212" name="Text 9"/>
          <p:cNvSpPr/>
          <p:nvPr/>
        </p:nvSpPr>
        <p:spPr>
          <a:xfrm>
            <a:off x="411480" y="292608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Open, modern, well-supported components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4983480" y="777240"/>
            <a:ext cx="1919880" cy="1279800"/>
          </a:xfrm>
          <a:prstGeom prst="roundRect">
            <a:avLst>
              <a:gd name="adj" fmla="val 714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11"/>
          <p:cNvSpPr/>
          <p:nvPr/>
        </p:nvSpPr>
        <p:spPr>
          <a:xfrm>
            <a:off x="4983480" y="777240"/>
            <a:ext cx="1919880" cy="45360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5" name="Image 5" descr="preencoded.png"/>
          <p:cNvPicPr/>
          <p:nvPr/>
        </p:nvPicPr>
        <p:blipFill>
          <a:blip r:embed="rId6"/>
          <a:stretch/>
        </p:blipFill>
        <p:spPr>
          <a:xfrm>
            <a:off x="5120640" y="9417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16" name="Text 12"/>
          <p:cNvSpPr/>
          <p:nvPr/>
        </p:nvSpPr>
        <p:spPr>
          <a:xfrm>
            <a:off x="5532120" y="9417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b422"/>
                </a:solidFill>
                <a:latin typeface="Arial Black"/>
                <a:ea typeface="Arial Black"/>
              </a:rPr>
              <a:t>FRONTEND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3"/>
          <p:cNvSpPr/>
          <p:nvPr/>
        </p:nvSpPr>
        <p:spPr>
          <a:xfrm>
            <a:off x="5120640" y="13716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React.js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User input + results UI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Shape 14"/>
          <p:cNvSpPr/>
          <p:nvPr/>
        </p:nvSpPr>
        <p:spPr>
          <a:xfrm>
            <a:off x="6995160" y="777240"/>
            <a:ext cx="1919880" cy="1279800"/>
          </a:xfrm>
          <a:prstGeom prst="roundRect">
            <a:avLst>
              <a:gd name="adj" fmla="val 714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15"/>
          <p:cNvSpPr/>
          <p:nvPr/>
        </p:nvSpPr>
        <p:spPr>
          <a:xfrm>
            <a:off x="6995160" y="777240"/>
            <a:ext cx="1919880" cy="45360"/>
          </a:xfrm>
          <a:prstGeom prst="rect">
            <a:avLst/>
          </a:prstGeom>
          <a:solidFill>
            <a:srgbClr val="3c873a"/>
          </a:solidFill>
          <a:ln w="12700">
            <a:solidFill>
              <a:srgbClr val="3c87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0" name="Image 6" descr="preencoded.png"/>
          <p:cNvPicPr/>
          <p:nvPr/>
        </p:nvPicPr>
        <p:blipFill>
          <a:blip r:embed="rId7"/>
          <a:stretch/>
        </p:blipFill>
        <p:spPr>
          <a:xfrm>
            <a:off x="7132320" y="9417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21" name="Text 16"/>
          <p:cNvSpPr/>
          <p:nvPr/>
        </p:nvSpPr>
        <p:spPr>
          <a:xfrm>
            <a:off x="7543800" y="9417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b422"/>
                </a:solidFill>
                <a:latin typeface="Arial Black"/>
                <a:ea typeface="Arial Black"/>
              </a:rPr>
              <a:t>BACKEND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7132320" y="13716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Node.js + Express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API orchestration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18"/>
          <p:cNvSpPr/>
          <p:nvPr/>
        </p:nvSpPr>
        <p:spPr>
          <a:xfrm>
            <a:off x="4983480" y="2148840"/>
            <a:ext cx="1919880" cy="1279800"/>
          </a:xfrm>
          <a:prstGeom prst="roundRect">
            <a:avLst>
              <a:gd name="adj" fmla="val 714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19"/>
          <p:cNvSpPr/>
          <p:nvPr/>
        </p:nvSpPr>
        <p:spPr>
          <a:xfrm>
            <a:off x="4983480" y="2148840"/>
            <a:ext cx="1919880" cy="45360"/>
          </a:xfrm>
          <a:prstGeom prst="rect">
            <a:avLst/>
          </a:prstGeom>
          <a:solidFill>
            <a:srgbClr val="ffb422"/>
          </a:solidFill>
          <a:ln w="12700">
            <a:solidFill>
              <a:srgbClr val="ffb4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Image 7" descr="preencoded.png"/>
          <p:cNvPicPr/>
          <p:nvPr/>
        </p:nvPicPr>
        <p:blipFill>
          <a:blip r:embed="rId8"/>
          <a:stretch/>
        </p:blipFill>
        <p:spPr>
          <a:xfrm>
            <a:off x="5120640" y="23133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26" name="Text 20"/>
          <p:cNvSpPr/>
          <p:nvPr/>
        </p:nvSpPr>
        <p:spPr>
          <a:xfrm>
            <a:off x="5532120" y="23133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b422"/>
                </a:solidFill>
                <a:latin typeface="Arial Black"/>
                <a:ea typeface="Arial Black"/>
              </a:rPr>
              <a:t>DATABASE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21"/>
          <p:cNvSpPr/>
          <p:nvPr/>
        </p:nvSpPr>
        <p:spPr>
          <a:xfrm>
            <a:off x="5120640" y="27432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MongoDB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Cached issues + metadata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Shape 22"/>
          <p:cNvSpPr/>
          <p:nvPr/>
        </p:nvSpPr>
        <p:spPr>
          <a:xfrm>
            <a:off x="6995160" y="2148840"/>
            <a:ext cx="1919880" cy="1279800"/>
          </a:xfrm>
          <a:prstGeom prst="roundRect">
            <a:avLst>
              <a:gd name="adj" fmla="val 714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23"/>
          <p:cNvSpPr/>
          <p:nvPr/>
        </p:nvSpPr>
        <p:spPr>
          <a:xfrm>
            <a:off x="6995160" y="2148840"/>
            <a:ext cx="1919880" cy="45360"/>
          </a:xfrm>
          <a:prstGeom prst="rect">
            <a:avLst/>
          </a:prstGeom>
          <a:solidFill>
            <a:srgbClr val="ffb422"/>
          </a:solidFill>
          <a:ln w="12700">
            <a:solidFill>
              <a:srgbClr val="ffb4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Image 8" descr="preencoded.png"/>
          <p:cNvPicPr/>
          <p:nvPr/>
        </p:nvPicPr>
        <p:blipFill>
          <a:blip r:embed="rId9"/>
          <a:stretch/>
        </p:blipFill>
        <p:spPr>
          <a:xfrm>
            <a:off x="7132320" y="23133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31" name="Text 24"/>
          <p:cNvSpPr/>
          <p:nvPr/>
        </p:nvSpPr>
        <p:spPr>
          <a:xfrm>
            <a:off x="7543800" y="23133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b422"/>
                </a:solidFill>
                <a:latin typeface="Arial Black"/>
                <a:ea typeface="Arial Black"/>
              </a:rPr>
              <a:t>DATA SOURCE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25"/>
          <p:cNvSpPr/>
          <p:nvPr/>
        </p:nvSpPr>
        <p:spPr>
          <a:xfrm>
            <a:off x="7132320" y="27432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GitHub REST + GraphQL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Live issue feed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26"/>
          <p:cNvSpPr/>
          <p:nvPr/>
        </p:nvSpPr>
        <p:spPr>
          <a:xfrm>
            <a:off x="4983480" y="3520440"/>
            <a:ext cx="1919880" cy="1279800"/>
          </a:xfrm>
          <a:prstGeom prst="roundRect">
            <a:avLst>
              <a:gd name="adj" fmla="val 714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27"/>
          <p:cNvSpPr/>
          <p:nvPr/>
        </p:nvSpPr>
        <p:spPr>
          <a:xfrm>
            <a:off x="4983480" y="3520440"/>
            <a:ext cx="1919880" cy="45360"/>
          </a:xfrm>
          <a:prstGeom prst="rect">
            <a:avLst/>
          </a:prstGeom>
          <a:solidFill>
            <a:srgbClr val="ffb422"/>
          </a:solidFill>
          <a:ln w="12700">
            <a:solidFill>
              <a:srgbClr val="ffb4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Image 9" descr="preencoded.png"/>
          <p:cNvPicPr/>
          <p:nvPr/>
        </p:nvPicPr>
        <p:blipFill>
          <a:blip r:embed="rId10"/>
          <a:stretch/>
        </p:blipFill>
        <p:spPr>
          <a:xfrm>
            <a:off x="5120640" y="36849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36" name="Text 28"/>
          <p:cNvSpPr/>
          <p:nvPr/>
        </p:nvSpPr>
        <p:spPr>
          <a:xfrm>
            <a:off x="5532120" y="36849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b422"/>
                </a:solidFill>
                <a:latin typeface="Arial Black"/>
                <a:ea typeface="Arial Black"/>
              </a:rPr>
              <a:t>AI LAYER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29"/>
          <p:cNvSpPr/>
          <p:nvPr/>
        </p:nvSpPr>
        <p:spPr>
          <a:xfrm>
            <a:off x="5120640" y="41148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Meta Llama via API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Clarity + difficulty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Shape 30"/>
          <p:cNvSpPr/>
          <p:nvPr/>
        </p:nvSpPr>
        <p:spPr>
          <a:xfrm>
            <a:off x="6995160" y="3520440"/>
            <a:ext cx="1919880" cy="1279800"/>
          </a:xfrm>
          <a:prstGeom prst="roundRect">
            <a:avLst>
              <a:gd name="adj" fmla="val 714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31"/>
          <p:cNvSpPr/>
          <p:nvPr/>
        </p:nvSpPr>
        <p:spPr>
          <a:xfrm>
            <a:off x="6995160" y="3520440"/>
            <a:ext cx="1919880" cy="45360"/>
          </a:xfrm>
          <a:prstGeom prst="rect">
            <a:avLst/>
          </a:prstGeom>
          <a:solidFill>
            <a:srgbClr val="ffb422"/>
          </a:solidFill>
          <a:ln w="12700">
            <a:solidFill>
              <a:srgbClr val="ffb4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Image 10" descr="preencoded.png"/>
          <p:cNvPicPr/>
          <p:nvPr/>
        </p:nvPicPr>
        <p:blipFill>
          <a:blip r:embed="rId11"/>
          <a:stretch/>
        </p:blipFill>
        <p:spPr>
          <a:xfrm>
            <a:off x="7132320" y="36849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241" name="Text 32"/>
          <p:cNvSpPr/>
          <p:nvPr/>
        </p:nvSpPr>
        <p:spPr>
          <a:xfrm>
            <a:off x="7543800" y="368496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b422"/>
                </a:solidFill>
                <a:latin typeface="Arial Black"/>
                <a:ea typeface="Arial Black"/>
              </a:rPr>
              <a:t>RUNTIME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33"/>
          <p:cNvSpPr/>
          <p:nvPr/>
        </p:nvSpPr>
        <p:spPr>
          <a:xfrm>
            <a:off x="7132320" y="4114800"/>
            <a:ext cx="1645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REST APIs, JSON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Event-driven jobs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Shape 34"/>
          <p:cNvSpPr/>
          <p:nvPr/>
        </p:nvSpPr>
        <p:spPr>
          <a:xfrm>
            <a:off x="411480" y="4023360"/>
            <a:ext cx="4434480" cy="639720"/>
          </a:xfrm>
          <a:prstGeom prst="roundRect">
            <a:avLst>
              <a:gd name="adj" fmla="val 17143"/>
            </a:avLst>
          </a:prstGeom>
          <a:solidFill>
            <a:srgbClr val="111111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4" name="Image 11" descr="preencoded.png"/>
          <p:cNvPicPr/>
          <p:nvPr/>
        </p:nvPicPr>
        <p:blipFill>
          <a:blip r:embed="rId12"/>
          <a:stretch/>
        </p:blipFill>
        <p:spPr>
          <a:xfrm>
            <a:off x="548640" y="4160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45" name="Text 35"/>
          <p:cNvSpPr/>
          <p:nvPr/>
        </p:nvSpPr>
        <p:spPr>
          <a:xfrm>
            <a:off x="914400" y="4023360"/>
            <a:ext cx="3840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All components are open or commercially available; no proprietary lock-in.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6" name="" descr=""/>
          <p:cNvPicPr/>
          <p:nvPr/>
        </p:nvPicPr>
        <p:blipFill>
          <a:blip r:embed="rId13"/>
          <a:stretch/>
        </p:blipFill>
        <p:spPr>
          <a:xfrm>
            <a:off x="7269480" y="18360"/>
            <a:ext cx="1782720" cy="53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411120"/>
          </a:xfrm>
          <a:prstGeom prst="rect">
            <a:avLst/>
          </a:prstGeom>
          <a:ln w="0">
            <a:noFill/>
          </a:ln>
        </p:spPr>
      </p:pic>
      <p:pic>
        <p:nvPicPr>
          <p:cNvPr id="248" name="Image 1" descr="preencoded.png"/>
          <p:cNvPicPr/>
          <p:nvPr/>
        </p:nvPicPr>
        <p:blipFill>
          <a:blip r:embed="rId2"/>
          <a:stretch/>
        </p:blipFill>
        <p:spPr>
          <a:xfrm>
            <a:off x="0" y="4869360"/>
            <a:ext cx="9143640" cy="273960"/>
          </a:xfrm>
          <a:prstGeom prst="rect">
            <a:avLst/>
          </a:prstGeom>
          <a:ln w="0">
            <a:noFill/>
          </a:ln>
        </p:spPr>
      </p:pic>
      <p:sp>
        <p:nvSpPr>
          <p:cNvPr id="249" name="Shape 0"/>
          <p:cNvSpPr/>
          <p:nvPr/>
        </p:nvSpPr>
        <p:spPr>
          <a:xfrm>
            <a:off x="7269480" y="45720"/>
            <a:ext cx="178272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7287840" y="730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42a0a"/>
                </a:solidFill>
                <a:latin typeface="Arial Black"/>
                <a:ea typeface="Arial Black"/>
              </a:rPr>
              <a:t>CHITKARA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7287840" y="292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333333"/>
                </a:solidFill>
                <a:latin typeface="Calibri"/>
                <a:ea typeface="Calibri"/>
              </a:rPr>
              <a:t>UNIVERSITY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3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4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&gt;&gt;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4" name="Image 2" descr="preencoded.png"/>
          <p:cNvPicPr/>
          <p:nvPr/>
        </p:nvPicPr>
        <p:blipFill>
          <a:blip r:embed="rId3"/>
          <a:stretch/>
        </p:blipFill>
        <p:spPr>
          <a:xfrm>
            <a:off x="502920" y="5943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255" name="Text 5"/>
          <p:cNvSpPr/>
          <p:nvPr/>
        </p:nvSpPr>
        <p:spPr>
          <a:xfrm>
            <a:off x="777240" y="5486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Arial Black"/>
                <a:ea typeface="Arial Black"/>
              </a:rPr>
              <a:t>OSIR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6"/>
          <p:cNvSpPr/>
          <p:nvPr/>
        </p:nvSpPr>
        <p:spPr>
          <a:xfrm>
            <a:off x="411480" y="1005840"/>
            <a:ext cx="5303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00" strike="noStrike">
                <a:solidFill>
                  <a:srgbClr val="ffffff"/>
                </a:solidFill>
                <a:latin typeface="Arial Black"/>
                <a:ea typeface="Arial Black"/>
              </a:rPr>
              <a:t>KEY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7"/>
          <p:cNvSpPr/>
          <p:nvPr/>
        </p:nvSpPr>
        <p:spPr>
          <a:xfrm>
            <a:off x="411480" y="1691640"/>
            <a:ext cx="5303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00" strike="noStrike">
                <a:solidFill>
                  <a:srgbClr val="ffffff"/>
                </a:solidFill>
                <a:latin typeface="Arial Black"/>
                <a:ea typeface="Arial Black"/>
              </a:rPr>
              <a:t>FEATURES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8" name="Image 3" descr="preencoded.png"/>
          <p:cNvPicPr/>
          <p:nvPr/>
        </p:nvPicPr>
        <p:blipFill>
          <a:blip r:embed="rId4"/>
          <a:stretch/>
        </p:blipFill>
        <p:spPr>
          <a:xfrm>
            <a:off x="411480" y="2468880"/>
            <a:ext cx="3108600" cy="310680"/>
          </a:xfrm>
          <a:prstGeom prst="rect">
            <a:avLst/>
          </a:prstGeom>
          <a:ln w="0">
            <a:noFill/>
          </a:ln>
        </p:spPr>
      </p:pic>
      <p:sp>
        <p:nvSpPr>
          <p:cNvPr id="259" name="Text 8"/>
          <p:cNvSpPr/>
          <p:nvPr/>
        </p:nvSpPr>
        <p:spPr>
          <a:xfrm>
            <a:off x="411480" y="246888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fffff"/>
                </a:solidFill>
                <a:latin typeface="Arial Black"/>
                <a:ea typeface="Arial Black"/>
              </a:rPr>
              <a:t>CORE FUNCTIONAL CAPABILITIES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0" name="Image 4" descr="preencoded.png"/>
          <p:cNvPicPr/>
          <p:nvPr/>
        </p:nvPicPr>
        <p:blipFill>
          <a:blip r:embed="rId5"/>
          <a:stretch/>
        </p:blipFill>
        <p:spPr>
          <a:xfrm>
            <a:off x="411480" y="2853000"/>
            <a:ext cx="3565800" cy="36360"/>
          </a:xfrm>
          <a:prstGeom prst="rect">
            <a:avLst/>
          </a:prstGeom>
          <a:ln w="0">
            <a:noFill/>
          </a:ln>
        </p:spPr>
      </p:pic>
      <p:sp>
        <p:nvSpPr>
          <p:cNvPr id="261" name="Text 9"/>
          <p:cNvSpPr/>
          <p:nvPr/>
        </p:nvSpPr>
        <p:spPr>
          <a:xfrm>
            <a:off x="411480" y="292608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bfbfbf"/>
                </a:solidFill>
                <a:latin typeface="Calibri"/>
                <a:ea typeface="Calibri"/>
              </a:rPr>
              <a:t>What the recommender actually does for the contributor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10"/>
          <p:cNvSpPr/>
          <p:nvPr/>
        </p:nvSpPr>
        <p:spPr>
          <a:xfrm>
            <a:off x="4983480" y="777240"/>
            <a:ext cx="3931560" cy="529920"/>
          </a:xfrm>
          <a:prstGeom prst="roundRect">
            <a:avLst>
              <a:gd name="adj" fmla="val 1379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3" name="Image 5" descr="preencoded.png"/>
          <p:cNvPicPr/>
          <p:nvPr/>
        </p:nvPicPr>
        <p:blipFill>
          <a:blip r:embed="rId6"/>
          <a:stretch/>
        </p:blipFill>
        <p:spPr>
          <a:xfrm>
            <a:off x="5093280" y="92340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64" name="Text 11"/>
          <p:cNvSpPr/>
          <p:nvPr/>
        </p:nvSpPr>
        <p:spPr>
          <a:xfrm>
            <a:off x="5403960" y="81396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rial Black"/>
                <a:ea typeface="Arial Black"/>
              </a:rPr>
              <a:t>AI-powered issue assessment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5403960" y="103320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fbfbf"/>
                </a:solidFill>
                <a:latin typeface="Calibri"/>
                <a:ea typeface="Calibri"/>
              </a:rPr>
              <a:t>Reads descriptions + threads to estimate clarity and difficulty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13"/>
          <p:cNvSpPr/>
          <p:nvPr/>
        </p:nvSpPr>
        <p:spPr>
          <a:xfrm>
            <a:off x="4983480" y="1362600"/>
            <a:ext cx="3931560" cy="529920"/>
          </a:xfrm>
          <a:prstGeom prst="roundRect">
            <a:avLst>
              <a:gd name="adj" fmla="val 1379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7" name="Image 6" descr="preencoded.png"/>
          <p:cNvPicPr/>
          <p:nvPr/>
        </p:nvPicPr>
        <p:blipFill>
          <a:blip r:embed="rId7"/>
          <a:stretch/>
        </p:blipFill>
        <p:spPr>
          <a:xfrm>
            <a:off x="5093280" y="150876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68" name="Text 14"/>
          <p:cNvSpPr/>
          <p:nvPr/>
        </p:nvSpPr>
        <p:spPr>
          <a:xfrm>
            <a:off x="5403960" y="139896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rial Black"/>
                <a:ea typeface="Arial Black"/>
              </a:rPr>
              <a:t>Skill-stack matching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15"/>
          <p:cNvSpPr/>
          <p:nvPr/>
        </p:nvSpPr>
        <p:spPr>
          <a:xfrm>
            <a:off x="5403960" y="161856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fbfbf"/>
                </a:solidFill>
                <a:latin typeface="Calibri"/>
                <a:ea typeface="Calibri"/>
              </a:rPr>
              <a:t>Prioritizes issues in repos that match the user's stack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16"/>
          <p:cNvSpPr/>
          <p:nvPr/>
        </p:nvSpPr>
        <p:spPr>
          <a:xfrm>
            <a:off x="4983480" y="1947600"/>
            <a:ext cx="3931560" cy="529920"/>
          </a:xfrm>
          <a:prstGeom prst="roundRect">
            <a:avLst>
              <a:gd name="adj" fmla="val 1379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1" name="Image 7" descr="preencoded.png"/>
          <p:cNvPicPr/>
          <p:nvPr/>
        </p:nvPicPr>
        <p:blipFill>
          <a:blip r:embed="rId8"/>
          <a:stretch/>
        </p:blipFill>
        <p:spPr>
          <a:xfrm>
            <a:off x="5093280" y="20941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72" name="Text 17"/>
          <p:cNvSpPr/>
          <p:nvPr/>
        </p:nvSpPr>
        <p:spPr>
          <a:xfrm>
            <a:off x="5403960" y="198432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rial Black"/>
                <a:ea typeface="Arial Black"/>
              </a:rPr>
              <a:t>Crowd-level filtering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18"/>
          <p:cNvSpPr/>
          <p:nvPr/>
        </p:nvSpPr>
        <p:spPr>
          <a:xfrm>
            <a:off x="5403960" y="220356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fbfbf"/>
                </a:solidFill>
                <a:latin typeface="Calibri"/>
                <a:ea typeface="Calibri"/>
              </a:rPr>
              <a:t>Down-ranks issues with high comment counts to avoid overlap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19"/>
          <p:cNvSpPr/>
          <p:nvPr/>
        </p:nvSpPr>
        <p:spPr>
          <a:xfrm>
            <a:off x="4983480" y="2532960"/>
            <a:ext cx="3931560" cy="529920"/>
          </a:xfrm>
          <a:prstGeom prst="roundRect">
            <a:avLst>
              <a:gd name="adj" fmla="val 1379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5" name="Image 8" descr="preencoded.png"/>
          <p:cNvPicPr/>
          <p:nvPr/>
        </p:nvPicPr>
        <p:blipFill>
          <a:blip r:embed="rId9"/>
          <a:stretch/>
        </p:blipFill>
        <p:spPr>
          <a:xfrm>
            <a:off x="5093280" y="267912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76" name="Text 20"/>
          <p:cNvSpPr/>
          <p:nvPr/>
        </p:nvSpPr>
        <p:spPr>
          <a:xfrm>
            <a:off x="5403960" y="256932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rial Black"/>
                <a:ea typeface="Arial Black"/>
              </a:rPr>
              <a:t>Issue freshness scoring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21"/>
          <p:cNvSpPr/>
          <p:nvPr/>
        </p:nvSpPr>
        <p:spPr>
          <a:xfrm>
            <a:off x="5403960" y="278892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fbfbf"/>
                </a:solidFill>
                <a:latin typeface="Calibri"/>
                <a:ea typeface="Calibri"/>
              </a:rPr>
              <a:t>Prefers issues opened within the last 7 to 30 days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22"/>
          <p:cNvSpPr/>
          <p:nvPr/>
        </p:nvSpPr>
        <p:spPr>
          <a:xfrm>
            <a:off x="4983480" y="3117960"/>
            <a:ext cx="3931560" cy="529920"/>
          </a:xfrm>
          <a:prstGeom prst="roundRect">
            <a:avLst>
              <a:gd name="adj" fmla="val 1379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9" name="Image 9" descr="preencoded.png"/>
          <p:cNvPicPr/>
          <p:nvPr/>
        </p:nvPicPr>
        <p:blipFill>
          <a:blip r:embed="rId10"/>
          <a:stretch/>
        </p:blipFill>
        <p:spPr>
          <a:xfrm>
            <a:off x="5093280" y="32644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80" name="Text 23"/>
          <p:cNvSpPr/>
          <p:nvPr/>
        </p:nvSpPr>
        <p:spPr>
          <a:xfrm>
            <a:off x="5403960" y="315468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rial Black"/>
                <a:ea typeface="Arial Black"/>
              </a:rPr>
              <a:t>Repository activity check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24"/>
          <p:cNvSpPr/>
          <p:nvPr/>
        </p:nvSpPr>
        <p:spPr>
          <a:xfrm>
            <a:off x="5403960" y="337428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fbfbf"/>
                </a:solidFill>
                <a:latin typeface="Calibri"/>
                <a:ea typeface="Calibri"/>
              </a:rPr>
              <a:t>Penalizes repos with 30 to 60+ days of inactivity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25"/>
          <p:cNvSpPr/>
          <p:nvPr/>
        </p:nvSpPr>
        <p:spPr>
          <a:xfrm>
            <a:off x="4983480" y="3703320"/>
            <a:ext cx="3931560" cy="529920"/>
          </a:xfrm>
          <a:prstGeom prst="roundRect">
            <a:avLst>
              <a:gd name="adj" fmla="val 1379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3" name="Image 10" descr="preencoded.png"/>
          <p:cNvPicPr/>
          <p:nvPr/>
        </p:nvPicPr>
        <p:blipFill>
          <a:blip r:embed="rId11"/>
          <a:stretch/>
        </p:blipFill>
        <p:spPr>
          <a:xfrm>
            <a:off x="5093280" y="384948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84" name="Text 26"/>
          <p:cNvSpPr/>
          <p:nvPr/>
        </p:nvSpPr>
        <p:spPr>
          <a:xfrm>
            <a:off x="5403960" y="374004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rial Black"/>
                <a:ea typeface="Arial Black"/>
              </a:rPr>
              <a:t>Transparent ranking explanations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27"/>
          <p:cNvSpPr/>
          <p:nvPr/>
        </p:nvSpPr>
        <p:spPr>
          <a:xfrm>
            <a:off x="5403960" y="395928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fbfbf"/>
                </a:solidFill>
                <a:latin typeface="Calibri"/>
                <a:ea typeface="Calibri"/>
              </a:rPr>
              <a:t>Each pick lists the primary signals behind its score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28"/>
          <p:cNvSpPr/>
          <p:nvPr/>
        </p:nvSpPr>
        <p:spPr>
          <a:xfrm>
            <a:off x="4983480" y="4288680"/>
            <a:ext cx="3931560" cy="529920"/>
          </a:xfrm>
          <a:prstGeom prst="roundRect">
            <a:avLst>
              <a:gd name="adj" fmla="val 13793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7" name="Image 11" descr="preencoded.png"/>
          <p:cNvPicPr/>
          <p:nvPr/>
        </p:nvPicPr>
        <p:blipFill>
          <a:blip r:embed="rId12"/>
          <a:stretch/>
        </p:blipFill>
        <p:spPr>
          <a:xfrm>
            <a:off x="5093280" y="4434840"/>
            <a:ext cx="237240" cy="237240"/>
          </a:xfrm>
          <a:prstGeom prst="rect">
            <a:avLst/>
          </a:prstGeom>
          <a:ln w="0">
            <a:noFill/>
          </a:ln>
        </p:spPr>
      </p:pic>
      <p:sp>
        <p:nvSpPr>
          <p:cNvPr id="288" name="Text 29"/>
          <p:cNvSpPr/>
          <p:nvPr/>
        </p:nvSpPr>
        <p:spPr>
          <a:xfrm>
            <a:off x="5403960" y="432504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Arial Black"/>
                <a:ea typeface="Arial Black"/>
              </a:rPr>
              <a:t>Deterministic fallback mode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30"/>
          <p:cNvSpPr/>
          <p:nvPr/>
        </p:nvSpPr>
        <p:spPr>
          <a:xfrm>
            <a:off x="5403960" y="4544640"/>
            <a:ext cx="3474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bfbfbf"/>
                </a:solidFill>
                <a:latin typeface="Calibri"/>
                <a:ea typeface="Calibri"/>
              </a:rPr>
              <a:t>Signal-based scoring runs if AI services are unavailable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Shape 31"/>
          <p:cNvSpPr/>
          <p:nvPr/>
        </p:nvSpPr>
        <p:spPr>
          <a:xfrm>
            <a:off x="411480" y="4023360"/>
            <a:ext cx="4434480" cy="639720"/>
          </a:xfrm>
          <a:prstGeom prst="roundRect">
            <a:avLst>
              <a:gd name="adj" fmla="val 17143"/>
            </a:avLst>
          </a:prstGeom>
          <a:solidFill>
            <a:srgbClr val="111111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1" name="Image 12" descr="preencoded.png"/>
          <p:cNvPicPr/>
          <p:nvPr/>
        </p:nvPicPr>
        <p:blipFill>
          <a:blip r:embed="rId13"/>
          <a:stretch/>
        </p:blipFill>
        <p:spPr>
          <a:xfrm>
            <a:off x="548640" y="4160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92" name="Text 32"/>
          <p:cNvSpPr/>
          <p:nvPr/>
        </p:nvSpPr>
        <p:spPr>
          <a:xfrm>
            <a:off x="914400" y="4023360"/>
            <a:ext cx="3840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Designed for contributors who want a curated short list, not another search.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3" name="" descr=""/>
          <p:cNvPicPr/>
          <p:nvPr/>
        </p:nvPicPr>
        <p:blipFill>
          <a:blip r:embed="rId14"/>
          <a:stretch/>
        </p:blipFill>
        <p:spPr>
          <a:xfrm>
            <a:off x="7269480" y="18360"/>
            <a:ext cx="1782720" cy="53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411120"/>
          </a:xfrm>
          <a:prstGeom prst="rect">
            <a:avLst/>
          </a:prstGeom>
          <a:ln w="0">
            <a:noFill/>
          </a:ln>
        </p:spPr>
      </p:pic>
      <p:pic>
        <p:nvPicPr>
          <p:cNvPr id="295" name="Image 1" descr="preencoded.png"/>
          <p:cNvPicPr/>
          <p:nvPr/>
        </p:nvPicPr>
        <p:blipFill>
          <a:blip r:embed="rId2"/>
          <a:stretch/>
        </p:blipFill>
        <p:spPr>
          <a:xfrm>
            <a:off x="0" y="4869360"/>
            <a:ext cx="9143640" cy="273960"/>
          </a:xfrm>
          <a:prstGeom prst="rect">
            <a:avLst/>
          </a:prstGeom>
          <a:ln w="0">
            <a:noFill/>
          </a:ln>
        </p:spPr>
      </p:pic>
      <p:sp>
        <p:nvSpPr>
          <p:cNvPr id="296" name="Shape 0"/>
          <p:cNvSpPr/>
          <p:nvPr/>
        </p:nvSpPr>
        <p:spPr>
          <a:xfrm>
            <a:off x="7269480" y="45720"/>
            <a:ext cx="178272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7287840" y="730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42a0a"/>
                </a:solidFill>
                <a:latin typeface="Arial Black"/>
                <a:ea typeface="Arial Black"/>
              </a:rPr>
              <a:t>CHITKARA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2"/>
          <p:cNvSpPr/>
          <p:nvPr/>
        </p:nvSpPr>
        <p:spPr>
          <a:xfrm>
            <a:off x="7287840" y="292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333333"/>
                </a:solidFill>
                <a:latin typeface="Calibri"/>
                <a:ea typeface="Calibri"/>
              </a:rPr>
              <a:t>UNIVERSITY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3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&gt;&gt;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1" name="Image 2" descr="preencoded.png"/>
          <p:cNvPicPr/>
          <p:nvPr/>
        </p:nvPicPr>
        <p:blipFill>
          <a:blip r:embed="rId3"/>
          <a:stretch/>
        </p:blipFill>
        <p:spPr>
          <a:xfrm>
            <a:off x="502920" y="5943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02" name="Text 5"/>
          <p:cNvSpPr/>
          <p:nvPr/>
        </p:nvSpPr>
        <p:spPr>
          <a:xfrm>
            <a:off x="777240" y="5486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Arial Black"/>
                <a:ea typeface="Arial Black"/>
              </a:rPr>
              <a:t>OSIR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6"/>
          <p:cNvSpPr/>
          <p:nvPr/>
        </p:nvSpPr>
        <p:spPr>
          <a:xfrm>
            <a:off x="411480" y="914400"/>
            <a:ext cx="8320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00" strike="noStrike">
                <a:solidFill>
                  <a:srgbClr val="ffffff"/>
                </a:solidFill>
                <a:latin typeface="Arial Black"/>
                <a:ea typeface="Arial Black"/>
              </a:rPr>
              <a:t>WORKING FLOW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7"/>
          <p:cNvSpPr/>
          <p:nvPr/>
        </p:nvSpPr>
        <p:spPr>
          <a:xfrm>
            <a:off x="411480" y="1417320"/>
            <a:ext cx="8320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b422"/>
                </a:solidFill>
                <a:latin typeface="Arial Black"/>
                <a:ea typeface="Arial Black"/>
              </a:rPr>
              <a:t>(PROCESS)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5" name="Image 3" descr="preencoded.png"/>
          <p:cNvPicPr/>
          <p:nvPr/>
        </p:nvPicPr>
        <p:blipFill>
          <a:blip r:embed="rId4"/>
          <a:stretch/>
        </p:blipFill>
        <p:spPr>
          <a:xfrm>
            <a:off x="411480" y="1874520"/>
            <a:ext cx="2925720" cy="310680"/>
          </a:xfrm>
          <a:prstGeom prst="rect">
            <a:avLst/>
          </a:prstGeom>
          <a:ln w="0">
            <a:noFill/>
          </a:ln>
        </p:spPr>
      </p:pic>
      <p:sp>
        <p:nvSpPr>
          <p:cNvPr id="306" name="Text 8"/>
          <p:cNvSpPr/>
          <p:nvPr/>
        </p:nvSpPr>
        <p:spPr>
          <a:xfrm>
            <a:off x="411480" y="1874520"/>
            <a:ext cx="2925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7" strike="noStrike">
                <a:solidFill>
                  <a:srgbClr val="ffffff"/>
                </a:solidFill>
                <a:latin typeface="Arial Black"/>
                <a:ea typeface="Arial Black"/>
              </a:rPr>
              <a:t>END-TO-END RECOMMENDATION PIPELINE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9"/>
          <p:cNvSpPr/>
          <p:nvPr/>
        </p:nvSpPr>
        <p:spPr>
          <a:xfrm>
            <a:off x="411480" y="2423160"/>
            <a:ext cx="1371240" cy="1508400"/>
          </a:xfrm>
          <a:prstGeom prst="roundRect">
            <a:avLst>
              <a:gd name="adj" fmla="val 6667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10"/>
          <p:cNvSpPr/>
          <p:nvPr/>
        </p:nvSpPr>
        <p:spPr>
          <a:xfrm>
            <a:off x="850320" y="2176200"/>
            <a:ext cx="493560" cy="493560"/>
          </a:xfrm>
          <a:prstGeom prst="ellipse">
            <a:avLst/>
          </a:prstGeom>
          <a:solidFill>
            <a:srgbClr val="f23a14"/>
          </a:solidFill>
          <a:ln w="38100">
            <a:solidFill>
              <a:srgbClr val="0a0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11"/>
          <p:cNvSpPr/>
          <p:nvPr/>
        </p:nvSpPr>
        <p:spPr>
          <a:xfrm>
            <a:off x="850320" y="217620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12"/>
          <p:cNvSpPr/>
          <p:nvPr/>
        </p:nvSpPr>
        <p:spPr>
          <a:xfrm>
            <a:off x="502920" y="278892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422"/>
                </a:solidFill>
                <a:latin typeface="Arial Black"/>
                <a:ea typeface="Arial Black"/>
              </a:rPr>
              <a:t>Skills input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13"/>
          <p:cNvSpPr/>
          <p:nvPr/>
        </p:nvSpPr>
        <p:spPr>
          <a:xfrm>
            <a:off x="502920" y="320040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User submits stack + interests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14"/>
          <p:cNvSpPr/>
          <p:nvPr/>
        </p:nvSpPr>
        <p:spPr>
          <a:xfrm>
            <a:off x="1874520" y="2423160"/>
            <a:ext cx="1371240" cy="1508400"/>
          </a:xfrm>
          <a:prstGeom prst="roundRect">
            <a:avLst>
              <a:gd name="adj" fmla="val 6667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15"/>
          <p:cNvSpPr/>
          <p:nvPr/>
        </p:nvSpPr>
        <p:spPr>
          <a:xfrm>
            <a:off x="2313360" y="2176200"/>
            <a:ext cx="493560" cy="493560"/>
          </a:xfrm>
          <a:prstGeom prst="ellipse">
            <a:avLst/>
          </a:prstGeom>
          <a:solidFill>
            <a:srgbClr val="f23a14"/>
          </a:solidFill>
          <a:ln w="38100">
            <a:solidFill>
              <a:srgbClr val="0a0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16"/>
          <p:cNvSpPr/>
          <p:nvPr/>
        </p:nvSpPr>
        <p:spPr>
          <a:xfrm>
            <a:off x="2313360" y="217620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17"/>
          <p:cNvSpPr/>
          <p:nvPr/>
        </p:nvSpPr>
        <p:spPr>
          <a:xfrm>
            <a:off x="1965960" y="278892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422"/>
                </a:solidFill>
                <a:latin typeface="Arial Black"/>
                <a:ea typeface="Arial Black"/>
              </a:rPr>
              <a:t>Issue fetch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18"/>
          <p:cNvSpPr/>
          <p:nvPr/>
        </p:nvSpPr>
        <p:spPr>
          <a:xfrm>
            <a:off x="1965960" y="320040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GitHub API pulls candidate issues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Shape 19"/>
          <p:cNvSpPr/>
          <p:nvPr/>
        </p:nvSpPr>
        <p:spPr>
          <a:xfrm>
            <a:off x="3337560" y="2423160"/>
            <a:ext cx="1371240" cy="1508400"/>
          </a:xfrm>
          <a:prstGeom prst="roundRect">
            <a:avLst>
              <a:gd name="adj" fmla="val 6667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20"/>
          <p:cNvSpPr/>
          <p:nvPr/>
        </p:nvSpPr>
        <p:spPr>
          <a:xfrm>
            <a:off x="3776400" y="2176200"/>
            <a:ext cx="493560" cy="493560"/>
          </a:xfrm>
          <a:prstGeom prst="ellipse">
            <a:avLst/>
          </a:prstGeom>
          <a:solidFill>
            <a:srgbClr val="f23a14"/>
          </a:solidFill>
          <a:ln w="38100">
            <a:solidFill>
              <a:srgbClr val="0a0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21"/>
          <p:cNvSpPr/>
          <p:nvPr/>
        </p:nvSpPr>
        <p:spPr>
          <a:xfrm>
            <a:off x="3776400" y="217620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22"/>
          <p:cNvSpPr/>
          <p:nvPr/>
        </p:nvSpPr>
        <p:spPr>
          <a:xfrm>
            <a:off x="3429000" y="278892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422"/>
                </a:solidFill>
                <a:latin typeface="Arial Black"/>
                <a:ea typeface="Arial Black"/>
              </a:rPr>
              <a:t>Pre-filter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3"/>
          <p:cNvSpPr/>
          <p:nvPr/>
        </p:nvSpPr>
        <p:spPr>
          <a:xfrm>
            <a:off x="3429000" y="320040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Labels, freshness, repo activity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24"/>
          <p:cNvSpPr/>
          <p:nvPr/>
        </p:nvSpPr>
        <p:spPr>
          <a:xfrm>
            <a:off x="4800600" y="2423160"/>
            <a:ext cx="1371240" cy="1508400"/>
          </a:xfrm>
          <a:prstGeom prst="roundRect">
            <a:avLst>
              <a:gd name="adj" fmla="val 6667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25"/>
          <p:cNvSpPr/>
          <p:nvPr/>
        </p:nvSpPr>
        <p:spPr>
          <a:xfrm>
            <a:off x="5239440" y="2176200"/>
            <a:ext cx="493560" cy="493560"/>
          </a:xfrm>
          <a:prstGeom prst="ellipse">
            <a:avLst/>
          </a:prstGeom>
          <a:solidFill>
            <a:srgbClr val="f23a14"/>
          </a:solidFill>
          <a:ln w="38100">
            <a:solidFill>
              <a:srgbClr val="0a0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26"/>
          <p:cNvSpPr/>
          <p:nvPr/>
        </p:nvSpPr>
        <p:spPr>
          <a:xfrm>
            <a:off x="5239440" y="217620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27"/>
          <p:cNvSpPr/>
          <p:nvPr/>
        </p:nvSpPr>
        <p:spPr>
          <a:xfrm>
            <a:off x="4892040" y="278892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422"/>
                </a:solidFill>
                <a:latin typeface="Arial Black"/>
                <a:ea typeface="Arial Black"/>
              </a:rPr>
              <a:t>AI evaluation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28"/>
          <p:cNvSpPr/>
          <p:nvPr/>
        </p:nvSpPr>
        <p:spPr>
          <a:xfrm>
            <a:off x="4892040" y="320040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Llama scores clarity + difficulty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29"/>
          <p:cNvSpPr/>
          <p:nvPr/>
        </p:nvSpPr>
        <p:spPr>
          <a:xfrm>
            <a:off x="6263640" y="2423160"/>
            <a:ext cx="1371240" cy="1508400"/>
          </a:xfrm>
          <a:prstGeom prst="roundRect">
            <a:avLst>
              <a:gd name="adj" fmla="val 6667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30"/>
          <p:cNvSpPr/>
          <p:nvPr/>
        </p:nvSpPr>
        <p:spPr>
          <a:xfrm>
            <a:off x="6702480" y="2176200"/>
            <a:ext cx="493560" cy="493560"/>
          </a:xfrm>
          <a:prstGeom prst="ellipse">
            <a:avLst/>
          </a:prstGeom>
          <a:solidFill>
            <a:srgbClr val="f23a14"/>
          </a:solidFill>
          <a:ln w="38100">
            <a:solidFill>
              <a:srgbClr val="0a0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31"/>
          <p:cNvSpPr/>
          <p:nvPr/>
        </p:nvSpPr>
        <p:spPr>
          <a:xfrm>
            <a:off x="6702480" y="217620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32"/>
          <p:cNvSpPr/>
          <p:nvPr/>
        </p:nvSpPr>
        <p:spPr>
          <a:xfrm>
            <a:off x="6355080" y="278892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422"/>
                </a:solidFill>
                <a:latin typeface="Arial Black"/>
                <a:ea typeface="Arial Black"/>
              </a:rPr>
              <a:t>Composite score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33"/>
          <p:cNvSpPr/>
          <p:nvPr/>
        </p:nvSpPr>
        <p:spPr>
          <a:xfrm>
            <a:off x="6355080" y="320040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Combine AI + signal weights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Shape 34"/>
          <p:cNvSpPr/>
          <p:nvPr/>
        </p:nvSpPr>
        <p:spPr>
          <a:xfrm>
            <a:off x="7726680" y="2423160"/>
            <a:ext cx="1371240" cy="1508400"/>
          </a:xfrm>
          <a:prstGeom prst="roundRect">
            <a:avLst>
              <a:gd name="adj" fmla="val 6667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35"/>
          <p:cNvSpPr/>
          <p:nvPr/>
        </p:nvSpPr>
        <p:spPr>
          <a:xfrm>
            <a:off x="8165520" y="2176200"/>
            <a:ext cx="493560" cy="493560"/>
          </a:xfrm>
          <a:prstGeom prst="ellipse">
            <a:avLst/>
          </a:prstGeom>
          <a:solidFill>
            <a:srgbClr val="f23a14"/>
          </a:solidFill>
          <a:ln w="38100">
            <a:solidFill>
              <a:srgbClr val="0a0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36"/>
          <p:cNvSpPr/>
          <p:nvPr/>
        </p:nvSpPr>
        <p:spPr>
          <a:xfrm>
            <a:off x="8165520" y="2176200"/>
            <a:ext cx="4935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6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37"/>
          <p:cNvSpPr/>
          <p:nvPr/>
        </p:nvSpPr>
        <p:spPr>
          <a:xfrm>
            <a:off x="7818120" y="2788920"/>
            <a:ext cx="118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b422"/>
                </a:solidFill>
                <a:latin typeface="Arial Black"/>
                <a:ea typeface="Arial Black"/>
              </a:rPr>
              <a:t>Ranked output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38"/>
          <p:cNvSpPr/>
          <p:nvPr/>
        </p:nvSpPr>
        <p:spPr>
          <a:xfrm>
            <a:off x="7818120" y="320040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Top picks with signal explanations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39"/>
          <p:cNvSpPr/>
          <p:nvPr/>
        </p:nvSpPr>
        <p:spPr>
          <a:xfrm>
            <a:off x="411480" y="4160520"/>
            <a:ext cx="8320680" cy="502560"/>
          </a:xfrm>
          <a:prstGeom prst="roundRect">
            <a:avLst>
              <a:gd name="adj" fmla="val 18182"/>
            </a:avLst>
          </a:prstGeom>
          <a:solidFill>
            <a:srgbClr val="111111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8" name="Image 4" descr="preencoded.png"/>
          <p:cNvPicPr/>
          <p:nvPr/>
        </p:nvPicPr>
        <p:blipFill>
          <a:blip r:embed="rId5"/>
          <a:stretch/>
        </p:blipFill>
        <p:spPr>
          <a:xfrm>
            <a:off x="548640" y="42793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39" name="Text 40"/>
          <p:cNvSpPr/>
          <p:nvPr/>
        </p:nvSpPr>
        <p:spPr>
          <a:xfrm>
            <a:off x="868680" y="416052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Composite signals: freshness, comment count, repo activity, beginner labels, stack match, complexity proxy.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0" name="" descr=""/>
          <p:cNvPicPr/>
          <p:nvPr/>
        </p:nvPicPr>
        <p:blipFill>
          <a:blip r:embed="rId6"/>
          <a:stretch/>
        </p:blipFill>
        <p:spPr>
          <a:xfrm>
            <a:off x="7269480" y="18360"/>
            <a:ext cx="1782720" cy="53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411120"/>
          </a:xfrm>
          <a:prstGeom prst="rect">
            <a:avLst/>
          </a:prstGeom>
          <a:ln w="0">
            <a:noFill/>
          </a:ln>
        </p:spPr>
      </p:pic>
      <p:pic>
        <p:nvPicPr>
          <p:cNvPr id="342" name="Image 1" descr="preencoded.png"/>
          <p:cNvPicPr/>
          <p:nvPr/>
        </p:nvPicPr>
        <p:blipFill>
          <a:blip r:embed="rId2"/>
          <a:stretch/>
        </p:blipFill>
        <p:spPr>
          <a:xfrm>
            <a:off x="0" y="4869360"/>
            <a:ext cx="9143640" cy="273960"/>
          </a:xfrm>
          <a:prstGeom prst="rect">
            <a:avLst/>
          </a:prstGeom>
          <a:ln w="0">
            <a:noFill/>
          </a:ln>
        </p:spPr>
      </p:pic>
      <p:sp>
        <p:nvSpPr>
          <p:cNvPr id="343" name="Shape 0"/>
          <p:cNvSpPr/>
          <p:nvPr/>
        </p:nvSpPr>
        <p:spPr>
          <a:xfrm>
            <a:off x="7269480" y="45720"/>
            <a:ext cx="178272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7287840" y="730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42a0a"/>
                </a:solidFill>
                <a:latin typeface="Arial Black"/>
                <a:ea typeface="Arial Black"/>
              </a:rPr>
              <a:t>CHITKARA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2"/>
          <p:cNvSpPr/>
          <p:nvPr/>
        </p:nvSpPr>
        <p:spPr>
          <a:xfrm>
            <a:off x="7287840" y="292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333333"/>
                </a:solidFill>
                <a:latin typeface="Calibri"/>
                <a:ea typeface="Calibri"/>
              </a:rPr>
              <a:t>UNIVERSITY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3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4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&gt;&gt;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8" name="Image 2" descr="preencoded.png"/>
          <p:cNvPicPr/>
          <p:nvPr/>
        </p:nvPicPr>
        <p:blipFill>
          <a:blip r:embed="rId3"/>
          <a:stretch/>
        </p:blipFill>
        <p:spPr>
          <a:xfrm>
            <a:off x="502920" y="5943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49" name="Text 5"/>
          <p:cNvSpPr/>
          <p:nvPr/>
        </p:nvSpPr>
        <p:spPr>
          <a:xfrm>
            <a:off x="777240" y="5486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Arial Black"/>
                <a:ea typeface="Arial Black"/>
              </a:rPr>
              <a:t>OSIR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6"/>
          <p:cNvSpPr/>
          <p:nvPr/>
        </p:nvSpPr>
        <p:spPr>
          <a:xfrm>
            <a:off x="411480" y="777240"/>
            <a:ext cx="4754520" cy="868320"/>
          </a:xfrm>
          <a:prstGeom prst="roundRect">
            <a:avLst>
              <a:gd name="adj" fmla="val 10526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7"/>
          <p:cNvSpPr/>
          <p:nvPr/>
        </p:nvSpPr>
        <p:spPr>
          <a:xfrm>
            <a:off x="411480" y="777240"/>
            <a:ext cx="54360" cy="86832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2" name="Image 3" descr="preencoded.png"/>
          <p:cNvPicPr/>
          <p:nvPr/>
        </p:nvPicPr>
        <p:blipFill>
          <a:blip r:embed="rId4"/>
          <a:stretch/>
        </p:blipFill>
        <p:spPr>
          <a:xfrm>
            <a:off x="594360" y="10515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53" name="Text 8"/>
          <p:cNvSpPr/>
          <p:nvPr/>
        </p:nvSpPr>
        <p:spPr>
          <a:xfrm>
            <a:off x="1005840" y="86868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b422"/>
                </a:solidFill>
                <a:latin typeface="Arial Black"/>
                <a:ea typeface="Arial Black"/>
              </a:rPr>
              <a:t>A small, curated short list of issues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9"/>
          <p:cNvSpPr/>
          <p:nvPr/>
        </p:nvSpPr>
        <p:spPr>
          <a:xfrm>
            <a:off x="1005840" y="1197720"/>
            <a:ext cx="4068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Instead of dozens of tabs, a handful of approachable picks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10"/>
          <p:cNvSpPr/>
          <p:nvPr/>
        </p:nvSpPr>
        <p:spPr>
          <a:xfrm>
            <a:off x="411480" y="1737360"/>
            <a:ext cx="4754520" cy="868320"/>
          </a:xfrm>
          <a:prstGeom prst="roundRect">
            <a:avLst>
              <a:gd name="adj" fmla="val 10526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11"/>
          <p:cNvSpPr/>
          <p:nvPr/>
        </p:nvSpPr>
        <p:spPr>
          <a:xfrm>
            <a:off x="411480" y="1737360"/>
            <a:ext cx="54360" cy="86832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7" name="Image 4" descr="preencoded.png"/>
          <p:cNvPicPr/>
          <p:nvPr/>
        </p:nvPicPr>
        <p:blipFill>
          <a:blip r:embed="rId5"/>
          <a:stretch/>
        </p:blipFill>
        <p:spPr>
          <a:xfrm>
            <a:off x="594360" y="201168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58" name="Text 12"/>
          <p:cNvSpPr/>
          <p:nvPr/>
        </p:nvSpPr>
        <p:spPr>
          <a:xfrm>
            <a:off x="1005840" y="182880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b422"/>
                </a:solidFill>
                <a:latin typeface="Arial Black"/>
                <a:ea typeface="Arial Black"/>
              </a:rPr>
              <a:t>Stack-relevant, low-crowd matches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13"/>
          <p:cNvSpPr/>
          <p:nvPr/>
        </p:nvSpPr>
        <p:spPr>
          <a:xfrm>
            <a:off x="1005840" y="2157840"/>
            <a:ext cx="4068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Filtered for the user's actual technologies and capacity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14"/>
          <p:cNvSpPr/>
          <p:nvPr/>
        </p:nvSpPr>
        <p:spPr>
          <a:xfrm>
            <a:off x="411480" y="2697480"/>
            <a:ext cx="4754520" cy="868320"/>
          </a:xfrm>
          <a:prstGeom prst="roundRect">
            <a:avLst>
              <a:gd name="adj" fmla="val 10526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15"/>
          <p:cNvSpPr/>
          <p:nvPr/>
        </p:nvSpPr>
        <p:spPr>
          <a:xfrm>
            <a:off x="411480" y="2697480"/>
            <a:ext cx="54360" cy="86832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2" name="Image 5" descr="preencoded.png"/>
          <p:cNvPicPr/>
          <p:nvPr/>
        </p:nvPicPr>
        <p:blipFill>
          <a:blip r:embed="rId6"/>
          <a:stretch/>
        </p:blipFill>
        <p:spPr>
          <a:xfrm>
            <a:off x="594360" y="29718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63" name="Text 16"/>
          <p:cNvSpPr/>
          <p:nvPr/>
        </p:nvSpPr>
        <p:spPr>
          <a:xfrm>
            <a:off x="1005840" y="278892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b422"/>
                </a:solidFill>
                <a:latin typeface="Arial Black"/>
                <a:ea typeface="Arial Black"/>
              </a:rPr>
              <a:t>Transparent ranking signals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17"/>
          <p:cNvSpPr/>
          <p:nvPr/>
        </p:nvSpPr>
        <p:spPr>
          <a:xfrm>
            <a:off x="1005840" y="3117960"/>
            <a:ext cx="4068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Each pick names the factors that drove its score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18"/>
          <p:cNvSpPr/>
          <p:nvPr/>
        </p:nvSpPr>
        <p:spPr>
          <a:xfrm>
            <a:off x="411480" y="3657600"/>
            <a:ext cx="4754520" cy="868320"/>
          </a:xfrm>
          <a:prstGeom prst="roundRect">
            <a:avLst>
              <a:gd name="adj" fmla="val 10526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19"/>
          <p:cNvSpPr/>
          <p:nvPr/>
        </p:nvSpPr>
        <p:spPr>
          <a:xfrm>
            <a:off x="411480" y="3657600"/>
            <a:ext cx="54360" cy="86832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7" name="Image 6" descr="preencoded.png"/>
          <p:cNvPicPr/>
          <p:nvPr/>
        </p:nvPicPr>
        <p:blipFill>
          <a:blip r:embed="rId7"/>
          <a:stretch/>
        </p:blipFill>
        <p:spPr>
          <a:xfrm>
            <a:off x="594360" y="39319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368" name="Text 20"/>
          <p:cNvSpPr/>
          <p:nvPr/>
        </p:nvSpPr>
        <p:spPr>
          <a:xfrm>
            <a:off x="1005840" y="374904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b422"/>
                </a:solidFill>
                <a:latin typeface="Arial Black"/>
                <a:ea typeface="Arial Black"/>
              </a:rPr>
              <a:t>Faster path to a first contribution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21"/>
          <p:cNvSpPr/>
          <p:nvPr/>
        </p:nvSpPr>
        <p:spPr>
          <a:xfrm>
            <a:off x="1005840" y="4078080"/>
            <a:ext cx="4068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Less searching, more building and learning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Shape 22"/>
          <p:cNvSpPr/>
          <p:nvPr/>
        </p:nvSpPr>
        <p:spPr>
          <a:xfrm>
            <a:off x="5349240" y="777240"/>
            <a:ext cx="3565800" cy="3931560"/>
          </a:xfrm>
          <a:prstGeom prst="roundRect">
            <a:avLst>
              <a:gd name="adj" fmla="val 3846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1" name="Image 7" descr="preencoded.png"/>
          <p:cNvPicPr/>
          <p:nvPr/>
        </p:nvPicPr>
        <p:blipFill>
          <a:blip r:embed="rId8"/>
          <a:stretch/>
        </p:blipFill>
        <p:spPr>
          <a:xfrm>
            <a:off x="5532120" y="914400"/>
            <a:ext cx="3200040" cy="310680"/>
          </a:xfrm>
          <a:prstGeom prst="rect">
            <a:avLst/>
          </a:prstGeom>
          <a:ln w="0">
            <a:noFill/>
          </a:ln>
        </p:spPr>
      </p:pic>
      <p:sp>
        <p:nvSpPr>
          <p:cNvPr id="372" name="Text 23"/>
          <p:cNvSpPr/>
          <p:nvPr/>
        </p:nvSpPr>
        <p:spPr>
          <a:xfrm>
            <a:off x="5532120" y="914400"/>
            <a:ext cx="3200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97" strike="noStrike">
                <a:solidFill>
                  <a:srgbClr val="ffffff"/>
                </a:solidFill>
                <a:latin typeface="Arial Black"/>
                <a:ea typeface="Arial Black"/>
              </a:rPr>
              <a:t>MEASURABLE IMPACT FOR LEARNERS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24"/>
          <p:cNvSpPr/>
          <p:nvPr/>
        </p:nvSpPr>
        <p:spPr>
          <a:xfrm>
            <a:off x="5532120" y="1417320"/>
            <a:ext cx="3200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00" strike="noStrike">
                <a:solidFill>
                  <a:srgbClr val="ffffff"/>
                </a:solidFill>
                <a:latin typeface="Arial Black"/>
                <a:ea typeface="Arial Black"/>
              </a:rPr>
              <a:t>EXPECTED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25"/>
          <p:cNvSpPr/>
          <p:nvPr/>
        </p:nvSpPr>
        <p:spPr>
          <a:xfrm>
            <a:off x="5532120" y="1965960"/>
            <a:ext cx="3200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00" strike="noStrike">
                <a:solidFill>
                  <a:srgbClr val="ffffff"/>
                </a:solidFill>
                <a:latin typeface="Arial Black"/>
                <a:ea typeface="Arial Black"/>
              </a:rPr>
              <a:t>OUTCOME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26"/>
          <p:cNvSpPr/>
          <p:nvPr/>
        </p:nvSpPr>
        <p:spPr>
          <a:xfrm>
            <a:off x="5532120" y="2834640"/>
            <a:ext cx="3200040" cy="776880"/>
          </a:xfrm>
          <a:prstGeom prst="roundRect">
            <a:avLst>
              <a:gd name="adj" fmla="val 11765"/>
            </a:avLst>
          </a:prstGeom>
          <a:solidFill>
            <a:srgbClr val="111111"/>
          </a:solidFill>
          <a:ln w="12700">
            <a:solidFill>
              <a:srgbClr val="ffb4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27"/>
          <p:cNvSpPr/>
          <p:nvPr/>
        </p:nvSpPr>
        <p:spPr>
          <a:xfrm>
            <a:off x="5669280" y="29077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fb422"/>
                </a:solidFill>
                <a:latin typeface="Arial Black"/>
                <a:ea typeface="Arial Black"/>
              </a:rPr>
              <a:t>CURRENT STATUS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28"/>
          <p:cNvSpPr/>
          <p:nvPr/>
        </p:nvSpPr>
        <p:spPr>
          <a:xfrm>
            <a:off x="5669280" y="312732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~80% built. The system can already recommend GitHub issues using AI evaluation.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29"/>
          <p:cNvSpPr/>
          <p:nvPr/>
        </p:nvSpPr>
        <p:spPr>
          <a:xfrm>
            <a:off x="5532120" y="3703320"/>
            <a:ext cx="3200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pc="-1" strike="noStrike">
                <a:solidFill>
                  <a:srgbClr val="8a8a8a"/>
                </a:solidFill>
                <a:latin typeface="Calibri"/>
                <a:ea typeface="Calibri"/>
              </a:rPr>
              <a:t>Qualitative goals; metrics to be measured during user testing.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9" name="" descr=""/>
          <p:cNvPicPr/>
          <p:nvPr/>
        </p:nvPicPr>
        <p:blipFill>
          <a:blip r:embed="rId9"/>
          <a:stretch/>
        </p:blipFill>
        <p:spPr>
          <a:xfrm>
            <a:off x="7269480" y="18360"/>
            <a:ext cx="1782720" cy="53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411120"/>
          </a:xfrm>
          <a:prstGeom prst="rect">
            <a:avLst/>
          </a:prstGeom>
          <a:ln w="0">
            <a:noFill/>
          </a:ln>
        </p:spPr>
      </p:pic>
      <p:pic>
        <p:nvPicPr>
          <p:cNvPr id="381" name="Image 1" descr="preencoded.png"/>
          <p:cNvPicPr/>
          <p:nvPr/>
        </p:nvPicPr>
        <p:blipFill>
          <a:blip r:embed="rId2"/>
          <a:stretch/>
        </p:blipFill>
        <p:spPr>
          <a:xfrm>
            <a:off x="0" y="4869360"/>
            <a:ext cx="9143640" cy="273960"/>
          </a:xfrm>
          <a:prstGeom prst="rect">
            <a:avLst/>
          </a:prstGeom>
          <a:ln w="0">
            <a:noFill/>
          </a:ln>
        </p:spPr>
      </p:pic>
      <p:sp>
        <p:nvSpPr>
          <p:cNvPr id="382" name="Shape 0"/>
          <p:cNvSpPr/>
          <p:nvPr/>
        </p:nvSpPr>
        <p:spPr>
          <a:xfrm>
            <a:off x="7269480" y="45720"/>
            <a:ext cx="178272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7287840" y="730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42a0a"/>
                </a:solidFill>
                <a:latin typeface="Arial Black"/>
                <a:ea typeface="Arial Black"/>
              </a:rPr>
              <a:t>CHITKARA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2"/>
          <p:cNvSpPr/>
          <p:nvPr/>
        </p:nvSpPr>
        <p:spPr>
          <a:xfrm>
            <a:off x="7287840" y="292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333333"/>
                </a:solidFill>
                <a:latin typeface="Calibri"/>
                <a:ea typeface="Calibri"/>
              </a:rPr>
              <a:t>UNIVERSITY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Shape 3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4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&gt;&gt;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7" name="Image 2" descr="preencoded.png"/>
          <p:cNvPicPr/>
          <p:nvPr/>
        </p:nvPicPr>
        <p:blipFill>
          <a:blip r:embed="rId3"/>
          <a:stretch/>
        </p:blipFill>
        <p:spPr>
          <a:xfrm>
            <a:off x="502920" y="5943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388" name="Text 5"/>
          <p:cNvSpPr/>
          <p:nvPr/>
        </p:nvSpPr>
        <p:spPr>
          <a:xfrm>
            <a:off x="777240" y="54864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fffff"/>
                </a:solidFill>
                <a:latin typeface="Arial Black"/>
                <a:ea typeface="Arial Black"/>
              </a:rPr>
              <a:t>OSIR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6"/>
          <p:cNvSpPr/>
          <p:nvPr/>
        </p:nvSpPr>
        <p:spPr>
          <a:xfrm>
            <a:off x="411480" y="86868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00" strike="noStrike">
                <a:solidFill>
                  <a:srgbClr val="ffffff"/>
                </a:solidFill>
                <a:latin typeface="Arial Black"/>
                <a:ea typeface="Arial Black"/>
              </a:rPr>
              <a:t>CONCLUSION &amp;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7"/>
          <p:cNvSpPr/>
          <p:nvPr/>
        </p:nvSpPr>
        <p:spPr>
          <a:xfrm>
            <a:off x="411480" y="132588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00" strike="noStrike">
                <a:solidFill>
                  <a:srgbClr val="ffffff"/>
                </a:solidFill>
                <a:latin typeface="Arial Black"/>
                <a:ea typeface="Arial Black"/>
              </a:rPr>
              <a:t>KEY TAKEAWAYS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1" name="Image 3" descr="preencoded.png"/>
          <p:cNvPicPr/>
          <p:nvPr/>
        </p:nvPicPr>
        <p:blipFill>
          <a:blip r:embed="rId4"/>
          <a:stretch/>
        </p:blipFill>
        <p:spPr>
          <a:xfrm>
            <a:off x="411480" y="1828800"/>
            <a:ext cx="3108600" cy="310680"/>
          </a:xfrm>
          <a:prstGeom prst="rect">
            <a:avLst/>
          </a:prstGeom>
          <a:ln w="0">
            <a:noFill/>
          </a:ln>
        </p:spPr>
      </p:pic>
      <p:sp>
        <p:nvSpPr>
          <p:cNvPr id="392" name="Text 8"/>
          <p:cNvSpPr/>
          <p:nvPr/>
        </p:nvSpPr>
        <p:spPr>
          <a:xfrm>
            <a:off x="411480" y="1828800"/>
            <a:ext cx="3108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97" strike="noStrike">
                <a:solidFill>
                  <a:srgbClr val="ffffff"/>
                </a:solidFill>
                <a:latin typeface="Arial Black"/>
                <a:ea typeface="Arial Black"/>
              </a:rPr>
              <a:t>SCALABLE SOLUTION + FUTURE EXPANSION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9"/>
          <p:cNvSpPr/>
          <p:nvPr/>
        </p:nvSpPr>
        <p:spPr>
          <a:xfrm>
            <a:off x="411480" y="2286000"/>
            <a:ext cx="4251600" cy="2331360"/>
          </a:xfrm>
          <a:prstGeom prst="roundRect">
            <a:avLst>
              <a:gd name="adj" fmla="val 4706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10"/>
          <p:cNvSpPr/>
          <p:nvPr/>
        </p:nvSpPr>
        <p:spPr>
          <a:xfrm>
            <a:off x="594360" y="24231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b422"/>
                </a:solidFill>
                <a:latin typeface="Arial Black"/>
                <a:ea typeface="Arial Black"/>
              </a:rPr>
              <a:t>WHAT WE BUILT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11"/>
          <p:cNvSpPr/>
          <p:nvPr/>
        </p:nvSpPr>
        <p:spPr>
          <a:xfrm>
            <a:off x="594360" y="2743200"/>
            <a:ext cx="39315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An AI-assisted recommender that matches GitHub issues to a contributor's stack and capacity.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Combines AI evaluation with deterministic signal-based scoring, with a transparent explanation of why each issue is suggested.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Resilient by design: signal-based fallback runs when AI services are unavailable.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Shape 12"/>
          <p:cNvSpPr/>
          <p:nvPr/>
        </p:nvSpPr>
        <p:spPr>
          <a:xfrm>
            <a:off x="4846320" y="2286000"/>
            <a:ext cx="4068720" cy="2331360"/>
          </a:xfrm>
          <a:prstGeom prst="roundRect">
            <a:avLst>
              <a:gd name="adj" fmla="val 4706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7" name="Image 4" descr="preencoded.png"/>
          <p:cNvPicPr/>
          <p:nvPr/>
        </p:nvPicPr>
        <p:blipFill>
          <a:blip r:embed="rId5"/>
          <a:stretch/>
        </p:blipFill>
        <p:spPr>
          <a:xfrm>
            <a:off x="4983480" y="2395800"/>
            <a:ext cx="1737000" cy="273960"/>
          </a:xfrm>
          <a:prstGeom prst="rect">
            <a:avLst/>
          </a:prstGeom>
          <a:ln w="0">
            <a:noFill/>
          </a:ln>
        </p:spPr>
      </p:pic>
      <p:sp>
        <p:nvSpPr>
          <p:cNvPr id="398" name="Text 13"/>
          <p:cNvSpPr/>
          <p:nvPr/>
        </p:nvSpPr>
        <p:spPr>
          <a:xfrm>
            <a:off x="4983480" y="23958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fffff"/>
                </a:solidFill>
                <a:latin typeface="Arial Black"/>
                <a:ea typeface="Arial Black"/>
              </a:rPr>
              <a:t>FUTURE SCOPE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9" name="Image 5" descr="preencoded.png"/>
          <p:cNvPicPr/>
          <p:nvPr/>
        </p:nvPicPr>
        <p:blipFill>
          <a:blip r:embed="rId6"/>
          <a:stretch/>
        </p:blipFill>
        <p:spPr>
          <a:xfrm>
            <a:off x="5029200" y="28256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400" name="Text 14"/>
          <p:cNvSpPr/>
          <p:nvPr/>
        </p:nvSpPr>
        <p:spPr>
          <a:xfrm>
            <a:off x="5303520" y="2788920"/>
            <a:ext cx="3520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Browser extension for inline GitHub recommendations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1" name="Image 6" descr="preencoded.png"/>
          <p:cNvPicPr/>
          <p:nvPr/>
        </p:nvPicPr>
        <p:blipFill>
          <a:blip r:embed="rId7"/>
          <a:stretch/>
        </p:blipFill>
        <p:spPr>
          <a:xfrm>
            <a:off x="5029200" y="31730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402" name="Text 15"/>
          <p:cNvSpPr/>
          <p:nvPr/>
        </p:nvSpPr>
        <p:spPr>
          <a:xfrm>
            <a:off x="5303520" y="3136320"/>
            <a:ext cx="3520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Auto-detect skills from a contributor's GitHub profile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3" name="Image 7" descr="preencoded.png"/>
          <p:cNvPicPr/>
          <p:nvPr/>
        </p:nvPicPr>
        <p:blipFill>
          <a:blip r:embed="rId8"/>
          <a:stretch/>
        </p:blipFill>
        <p:spPr>
          <a:xfrm>
            <a:off x="5029200" y="35204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404" name="Text 16"/>
          <p:cNvSpPr/>
          <p:nvPr/>
        </p:nvSpPr>
        <p:spPr>
          <a:xfrm>
            <a:off x="5303520" y="3483720"/>
            <a:ext cx="3520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Mentor matching with active maintainers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5" name="Image 8" descr="preencoded.png"/>
          <p:cNvPicPr/>
          <p:nvPr/>
        </p:nvPicPr>
        <p:blipFill>
          <a:blip r:embed="rId9"/>
          <a:stretch/>
        </p:blipFill>
        <p:spPr>
          <a:xfrm>
            <a:off x="5029200" y="38678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406" name="Text 17"/>
          <p:cNvSpPr/>
          <p:nvPr/>
        </p:nvSpPr>
        <p:spPr>
          <a:xfrm>
            <a:off x="5303520" y="3831480"/>
            <a:ext cx="3520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Multi-platform support (GitLab, Bitbucket, Codeberg)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7" name="Image 9" descr="preencoded.png"/>
          <p:cNvPicPr/>
          <p:nvPr/>
        </p:nvPicPr>
        <p:blipFill>
          <a:blip r:embed="rId10"/>
          <a:stretch/>
        </p:blipFill>
        <p:spPr>
          <a:xfrm>
            <a:off x="5029200" y="421524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408" name="Text 18"/>
          <p:cNvSpPr/>
          <p:nvPr/>
        </p:nvSpPr>
        <p:spPr>
          <a:xfrm>
            <a:off x="5303520" y="4178880"/>
            <a:ext cx="3520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Contribution analytics and lightweight gamification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411120"/>
          </a:xfrm>
          <a:prstGeom prst="rect">
            <a:avLst/>
          </a:prstGeom>
          <a:ln w="0">
            <a:noFill/>
          </a:ln>
        </p:spPr>
      </p:pic>
      <p:pic>
        <p:nvPicPr>
          <p:cNvPr id="410" name="Image 1" descr="preencoded.png"/>
          <p:cNvPicPr/>
          <p:nvPr/>
        </p:nvPicPr>
        <p:blipFill>
          <a:blip r:embed="rId2"/>
          <a:stretch/>
        </p:blipFill>
        <p:spPr>
          <a:xfrm>
            <a:off x="0" y="4869360"/>
            <a:ext cx="9143640" cy="273960"/>
          </a:xfrm>
          <a:prstGeom prst="rect">
            <a:avLst/>
          </a:prstGeom>
          <a:ln w="0">
            <a:noFill/>
          </a:ln>
        </p:spPr>
      </p:pic>
      <p:sp>
        <p:nvSpPr>
          <p:cNvPr id="411" name="Shape 0"/>
          <p:cNvSpPr/>
          <p:nvPr/>
        </p:nvSpPr>
        <p:spPr>
          <a:xfrm>
            <a:off x="7269480" y="45720"/>
            <a:ext cx="1782720" cy="50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1"/>
          <p:cNvSpPr/>
          <p:nvPr/>
        </p:nvSpPr>
        <p:spPr>
          <a:xfrm>
            <a:off x="7287840" y="730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97" strike="noStrike">
                <a:solidFill>
                  <a:srgbClr val="c42a0a"/>
                </a:solidFill>
                <a:latin typeface="Arial Black"/>
                <a:ea typeface="Arial Black"/>
              </a:rPr>
              <a:t>CHITKARA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2"/>
          <p:cNvSpPr/>
          <p:nvPr/>
        </p:nvSpPr>
        <p:spPr>
          <a:xfrm>
            <a:off x="7287840" y="292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333333"/>
                </a:solidFill>
                <a:latin typeface="Calibri"/>
                <a:ea typeface="Calibri"/>
              </a:rPr>
              <a:t>UNIVERSITY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3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solidFill>
            <a:srgbClr val="f23a14"/>
          </a:solidFill>
          <a:ln w="12700">
            <a:solidFill>
              <a:srgbClr val="f23a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4"/>
          <p:cNvSpPr/>
          <p:nvPr/>
        </p:nvSpPr>
        <p:spPr>
          <a:xfrm>
            <a:off x="8622720" y="1188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 Black"/>
                <a:ea typeface="Arial Black"/>
              </a:rPr>
              <a:t>&gt;&gt;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5"/>
          <p:cNvSpPr/>
          <p:nvPr/>
        </p:nvSpPr>
        <p:spPr>
          <a:xfrm>
            <a:off x="5303520" y="685800"/>
            <a:ext cx="3565800" cy="3702960"/>
          </a:xfrm>
          <a:prstGeom prst="roundRect">
            <a:avLst>
              <a:gd name="adj" fmla="val 4615"/>
            </a:avLst>
          </a:prstGeom>
          <a:solidFill>
            <a:srgbClr val="171717"/>
          </a:solidFill>
          <a:ln w="12700">
            <a:solidFill>
              <a:srgbClr val="2a2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7" name="Image 2" descr="preencoded.png"/>
          <p:cNvPicPr/>
          <p:nvPr/>
        </p:nvPicPr>
        <p:blipFill>
          <a:blip r:embed="rId3">
            <a:alphaModFix amt="75000"/>
          </a:blip>
          <a:stretch/>
        </p:blipFill>
        <p:spPr>
          <a:xfrm>
            <a:off x="6309360" y="1234440"/>
            <a:ext cx="1554120" cy="1554120"/>
          </a:xfrm>
          <a:prstGeom prst="rect">
            <a:avLst/>
          </a:prstGeom>
          <a:ln w="0">
            <a:noFill/>
          </a:ln>
        </p:spPr>
      </p:pic>
      <p:sp>
        <p:nvSpPr>
          <p:cNvPr id="418" name="Shape 6"/>
          <p:cNvSpPr/>
          <p:nvPr/>
        </p:nvSpPr>
        <p:spPr>
          <a:xfrm>
            <a:off x="5669280" y="3108960"/>
            <a:ext cx="91080" cy="91080"/>
          </a:xfrm>
          <a:prstGeom prst="ellipse">
            <a:avLst/>
          </a:prstGeom>
          <a:solidFill>
            <a:srgbClr val="ffb42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7"/>
          <p:cNvSpPr/>
          <p:nvPr/>
        </p:nvSpPr>
        <p:spPr>
          <a:xfrm>
            <a:off x="6492240" y="3337560"/>
            <a:ext cx="136800" cy="136800"/>
          </a:xfrm>
          <a:prstGeom prst="ellipse">
            <a:avLst/>
          </a:prstGeom>
          <a:solidFill>
            <a:srgbClr val="f23a1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8"/>
          <p:cNvSpPr/>
          <p:nvPr/>
        </p:nvSpPr>
        <p:spPr>
          <a:xfrm>
            <a:off x="7406640" y="3017520"/>
            <a:ext cx="182520" cy="182520"/>
          </a:xfrm>
          <a:prstGeom prst="ellipse">
            <a:avLst/>
          </a:prstGeom>
          <a:solidFill>
            <a:srgbClr val="ffb42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9"/>
          <p:cNvSpPr/>
          <p:nvPr/>
        </p:nvSpPr>
        <p:spPr>
          <a:xfrm>
            <a:off x="8046720" y="3520440"/>
            <a:ext cx="91080" cy="91080"/>
          </a:xfrm>
          <a:prstGeom prst="ellipse">
            <a:avLst/>
          </a:prstGeom>
          <a:solidFill>
            <a:srgbClr val="f23a1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10"/>
          <p:cNvSpPr/>
          <p:nvPr/>
        </p:nvSpPr>
        <p:spPr>
          <a:xfrm>
            <a:off x="5943600" y="3749040"/>
            <a:ext cx="136800" cy="136800"/>
          </a:xfrm>
          <a:prstGeom prst="ellipse">
            <a:avLst/>
          </a:prstGeom>
          <a:solidFill>
            <a:srgbClr val="ffb422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11"/>
          <p:cNvSpPr/>
          <p:nvPr/>
        </p:nvSpPr>
        <p:spPr>
          <a:xfrm>
            <a:off x="7132320" y="3931920"/>
            <a:ext cx="182520" cy="182520"/>
          </a:xfrm>
          <a:prstGeom prst="ellipse">
            <a:avLst/>
          </a:prstGeom>
          <a:solidFill>
            <a:srgbClr val="f23a14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12"/>
          <p:cNvSpPr/>
          <p:nvPr/>
        </p:nvSpPr>
        <p:spPr>
          <a:xfrm>
            <a:off x="411480" y="118872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0" spc="-202" strike="noStrike">
                <a:solidFill>
                  <a:srgbClr val="ffffff"/>
                </a:solidFill>
                <a:latin typeface="Arial Black"/>
                <a:ea typeface="Arial Black"/>
              </a:rPr>
              <a:t>THANK</a:t>
            </a:r>
            <a:endParaRPr b="0" lang="en-US" sz="7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13"/>
          <p:cNvSpPr/>
          <p:nvPr/>
        </p:nvSpPr>
        <p:spPr>
          <a:xfrm>
            <a:off x="411480" y="224028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0" spc="-202" strike="noStrike">
                <a:solidFill>
                  <a:srgbClr val="ffb422"/>
                </a:solidFill>
                <a:latin typeface="Arial Black"/>
                <a:ea typeface="Arial Black"/>
              </a:rPr>
              <a:t>YOU</a:t>
            </a:r>
            <a:endParaRPr b="0" lang="en-US" sz="7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Text 14"/>
          <p:cNvSpPr/>
          <p:nvPr/>
        </p:nvSpPr>
        <p:spPr>
          <a:xfrm>
            <a:off x="411480" y="33375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ffffff"/>
                </a:solidFill>
                <a:latin typeface="Arial Black"/>
                <a:ea typeface="Arial Black"/>
              </a:rPr>
              <a:t>OPEN SOURCE ISSUE RECOMMENDER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15"/>
          <p:cNvSpPr/>
          <p:nvPr/>
        </p:nvSpPr>
        <p:spPr>
          <a:xfrm>
            <a:off x="411480" y="374904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fb422"/>
                </a:solidFill>
                <a:latin typeface="Arial Black"/>
                <a:ea typeface="Arial Black"/>
              </a:rPr>
              <a:t>PRESENTED BY: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16"/>
          <p:cNvSpPr/>
          <p:nvPr/>
        </p:nvSpPr>
        <p:spPr>
          <a:xfrm>
            <a:off x="411480" y="3977640"/>
            <a:ext cx="49374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SHUBHAM SHARMA - 2210992369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SIDHARTH - 2210992378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SHUBHAM MITTAL - 2210992367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2026-05-01T19:46:25Z</dcterms:created>
  <dc:creator>Shubham Sharma, Sidharth, Shubham Mittal</dc:creator>
  <dc:description/>
  <dc:language>en-US</dc:language>
  <cp:lastModifiedBy/>
  <dcterms:modified xsi:type="dcterms:W3CDTF">2026-05-02T12:21:58Z</dcterms:modified>
  <cp:revision>2</cp:revision>
  <dc:subject>PptxGenJS Presentation</dc:subject>
  <dc:title>Open Source Issue Recommender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